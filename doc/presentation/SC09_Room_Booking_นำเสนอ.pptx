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11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8663962"/>
      </p:ext>
    </p:extLst>
  </p:cSld>
  <p:clrMap bg1="lt1" tx1="dk1" bg2="lt2" tx2="dk2" accent1="accent1" accent2="accent2" accent3="accent3" accent4="accent4" accent5="accent5" accent6="accent6" hlink="hlink" folHlink="folHlink"/>
  <p:notes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ดรัณภพ | 0:10 นาที | สะสม 0:10] สวัสดีครับ กลุ่มเรานำเสนอระบบจองห้องอาคาร SC09 เว็บสำหรับค้นหาห้องว่าง จอง อนุมัติ และแจ้งเตือน สมาชิก 5 คนแต่ละคนดูแลหนึ่งโมดูลครับ</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ดรัณภพ | 1:15 นาที | สะสม 1:25] อาคาร SC09 มีห้องบรรยาย แล็บ และห้องประชุมที่ใช้กันบ่อย แต่มีปัญหา 3 ข้อ คือ ไม่รู้ว่าห้องไหนว่าง ต้องถามเจ้าหน้าที่ จองผ่านช่องทางที่ไม่เป็นระบบทำให้จองซ้อนกันและไม่มีหลักฐานการอนุมัติ และห้องปิดซ่อมแต่คนไม่รู้ ระบบของเราจึงให้ค้นหาห้องว่างตามเวลา ความจุ และอุปกรณ์ ตรวจกฎและกันเวลาชนให้อัตโนมัติ มีขั้นตอนอนุมัติ check-in และแจ้งเตือนทุกครั้งที่สถานะเปลี่ยน ขอบเขตคือห้อง 16 ห้องในอาคาร SC09 เปิดให้จอง 8 โมงถึง 4 ทุ่ม ภายในวันเดียว ผู้ใช้มี 4 กลุ่ม และกฎต่างกันตามบทบาท นักศึกษาจองได้ 2 ชั่วโมง ล่วงหน้า 7 วัน และต้องรออนุมัติ อาจารย์ 4 ชั่วโมง 30 วัน เจ้าหน้าที่ 8 ชั่วโมง 90 วัน สองกลุ่มหลังอนุมัติอัตโนมัติ ส่วนผู้เยี่ยมชมดูรายการห้องและห้องว่างได้โดยไม่ต้อง login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ดรัณภพ | 0:35 นาที | สะสม 2:00] ระบบแบ่งเป็น 3 ส่วน หน้าเว็บ Next.js บน Vercel, backend Spring Boot ใน Docker บน Render และ PostgreSQL บน Neon ใน backend แบ่งชั้นชัดเจน Controller รับ request และตรวจข้อมูล Service เก็บกฎทางธุรกิจและ transaction Repository ติดต่อฐานข้อมูล ทุก error ตอบรูปแบบเดียวกันผ่าน GlobalExceptionHandler และเปิดดู API ได้ที่ Swagger ต่อไปแต่ละคนจะเล่า Design Pattern ของตัวเองครับ</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เจ้าของ pattern คนละ 15 วินาที | 1:00 นาที | สะสม 3:00] ดรัณภพ (Strategy): กฎการจองต่างกันตามบทบาท เราแยกเป็น policy 3 class ที่ implement BookingPolicy เดียวกัน resolver เลือกจาก Map ตาม role ไม่มี if-else เพิ่มบทบาทใหม่แค่เพิ่ม class อนัตตา (Chain of Responsibility): คำขอจองผ่าน handler 5 ตัวต่อกัน เวลา กฎบทบาท ห้อง ช่วงปิด และเวลาชน ตัวไหนไม่ผ่านหยุดทันทีพร้อม error ที่ถูกต้อง เพิ่มกฎใหม่ได้โดยเพิ่ม handler พัชรพล (State): การจองมี 7 สถานะ แต่ละสถานะเป็น class ที่ประกาศว่ารับ action อะไรได้และไปสถานะไหนต่อ ถ้าสั่ง action ผิดสถานะ เช่นอนุมัติการจองที่ยกเลิกแล้ว ได้ 409 ศุภกิตติ์ (Observer): เมื่อการจองเปลี่ยน service แค่ publish event ตัว listener รับหลัง commit แล้วส่งผ่าน NotificationSender ถ้าจะเพิ่มอีเมลหรือ LINE ก็เพิ่ม sender ใหม่ ไม่ต้องแก้โค้ดเดิม (ถ้าถูกถาม) Enterprise pattern ที่ใช้มี Repository, Service Layer, DTO กับ Mapper, Specification, Dependency Injection และ Template Method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อนัตตา | 0:45 นาที | สะสม 3:45] Class Diagram ของโมดูลการจอง Controller เรียกผ่าน interface BookingService ตัว implementation ใช้ Repository, Mapper, ValidationChain และ RoomQueryService ทั้งหมด inject ผ่าน constructor SOLID: S Controller ไม่มีกฎธุรกิจ O เพิ่มกฎแค่เพิ่ม handler L policy กับ state แทนกันได้ I โมดูลห้องเปิดแค่ 3 method และ D พึ่ง interface กับ inject Clock ทำให้ทดสอบเวลาได้ หลักฐานไฟล์และบรรทัดอยู่ในเอกสาร solid-analysis ครับ</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กฤษฎา | 0:40 นาที | สะสม 4:25] ฐานข้อมูลมี 10 ตาราง สร้างด้วย Flyway migration 5 ไฟล์ ความสัมพันธ์มีครบ 3 แบบ users กับ user_profiles เป็น 1 ต่อ 1 ห้องกับการจอง และผู้ใช้กับการจองเป็น 1 ต่อหลาย ส่วนห้องกับอุปกรณ์เป็น Many-to-Many ที่ต้องเก็บจำนวนด้วย เลยทำเป็นตาราง room_equipment มี quantity และใช้ primary key คู่ เราใช้ CHECK constraint กันข้อมูลผิด เช่นเวลาสิ้นสุดต้องหลังเวลาเริ่ม มี index บนห้องกับช่วงเวลาสำหรับตรวจเวลาชน และตั้ง ddl-auto เป็น validate ให้ Flyway เป็นเจ้าของโครงสร้างตาราง ต่อไปเป็นการสาธิตบนเว็บจริงครับ</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[คุมเครื่อง: ศุภกิตติ์ | พากย์: เจ้าของโมดูล | 3:30 นาที | สะสม 7:55] (1) 1:30 กฤษฎาพากย์: login เป็นนักศึกษา เข้าหน้ารายการห้อง กรองชั้น 2 ความจุ 30 คนขึ้นไป แล้วใส่ช่วงเวลาพรุ่งนี้ 10:00–12:00 เพื่อหาห้องว่าง อนัตตาพากย์: เลือกห้อง กรอกวัตถุประสงค์และจำนวนคน กดจอง สถานะเป็นรออนุมัติ เพราะนักศึกษาต้องรออนุมัติ จากนั้นลองจองห้องเดิมเวลาเดิมซ้ำ ระบบตอบว่าช่วงเวลานี้มีการจองแล้ว นี่คือ handler ตรวจเวลาชนใน Chain (2) 1:15 ศุภกิตติ์พากย์: สลับไปเบราว์เซอร์ของเจ้าหน้าที่ กระดิ่งขึ้นแจ้งเตือนคำขอใหม่ ซึ่งมาจาก Observer พัชรพลพากย์: เปิดคิวอนุมัติ กดอนุมัติ สถานะเปลี่ยนจาก PENDING เป็น APPROVED ตาม State กลับไปที่นักศึกษา ได้แจ้งเตือนว่าอนุมัติแล้ว และหน้ารายละเอียดมี timeline การเปลี่ยนสถานะ (3) 0:45 อนัตตาพากย์: เปิดหน้าตารางการใช้ห้อง ปฏิทินบอกจำนวนการจองแต่ละวัน กดวันพรุ่งนี้ เห็นการจองที่เพิ่งอนุมัติในตารางห้องคูณเวลา ถ้าเว็บช้าหรือล่ม: เปิดวิดีโอสำรองทันที ไม่ต้องรอ</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พัชรพล | 1:00 นาที | สะสม 8:55] สิ่งที่เราได้เรียนรู้มี 4 ข้อครับ ข้อแรก test ผ่านหมดไม่ได้แปลว่าไม่มีบั๊ก ตอนทดสอบบนเว็บจริงเราส่งคำขอจองพร้อมกัน 5 คำขอแล้วสำเร็จทั้ง 5 แก้ด้วย SELECT FOR UPDATE ตอนนี้สำเร็จแค่ 1 และเขียน concurrency test ไว้ยืนยัน ข้อสอง พอแก้ข้อมูลห้องใน V2 ข้อมูลตัวอย่างและ test ของโมดูลอื่นที่อ้างห้องเดิมพัง เราเลยตกลงว่า migration ที่ deploy แล้วห้ามแก้ ให้สร้างเวอร์ชันใหม่ ข้อสาม CI ล้มเพราะ Docker Hub จำกัดการดึง image แก้ด้วย mirror ของ AWS กับการลองใหม่อัตโนมัติ ข้อสี่ รหัสบัญชีทดสอบเคยอยู่ใน README เราลบออก เปลี่ยนรหัส และสร้าง JWT secret ใหม่ สิ่งที่จะทำต่อคือแจ้งเตือนทางอีเมลหรือ LINE จองซ้ำรายสัปดาห์ อัปเดตสถานะแบบ real-time และเพิ่ม test ฝั่ง frontend ขอบคุณครับ</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[ผู้พูด: ทุกคน] ขอบคุณที่รับฟังครับ ทีมเราพร้อมตอบคำถาม แนวทางตอบ: คำถามเรื่องไหน ให้เจ้าของเรื่องนั้นตอบ ผู้ใช้ JWT ความปลอดภัย Strategy → ดรัณภพ ห้อง อุปกรณ์ ค้นหา ฐานข้อมูล ช่วงปิดห้อง → กฤษฎา การจอง Chain เวลาชน การจองพร้อมกัน ตารางการใช้ห้อง → อนัตตา สถานะ State อนุมัติ check-in Scheduler → พัชรพล แจ้งเตือน Observer สถิติ Docker CI/CD deploy test → ศุภกิตติ์</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841"/>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Kanit" pitchFamily="34" charset="0"/>
                <a:ea typeface="Kanit" pitchFamily="34" charset="-122"/>
                <a:cs typeface="Kanit"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909961"/>
            <a:ext cx="10566400" cy="413523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Thai" pitchFamily="34" charset="0"/>
                <a:ea typeface="IBM Plex Sans Thai" pitchFamily="34" charset="-122"/>
                <a:cs typeface="IBM Plex Sans Thai"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841"/>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Kanit" pitchFamily="34" charset="0"/>
                <a:ea typeface="Kanit" pitchFamily="34" charset="-122"/>
                <a:cs typeface="Kanit"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909961"/>
            <a:ext cx="10566400" cy="413523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Thai" pitchFamily="34" charset="0"/>
                <a:ea typeface="IBM Plex Sans Thai" pitchFamily="34" charset="-122"/>
                <a:cs typeface="IBM Plex Sans Thai"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2A65A"/>
                </a:solidFill>
                <a:latin typeface="IBM Plex Sans Thai" pitchFamily="34" charset="0"/>
                <a:ea typeface="IBM Plex Sans Thai" pitchFamily="34" charset="-122"/>
                <a:cs typeface="IBM Plex Sans Thai" pitchFamily="34" charset="-120"/>
              </a:rPr>
              <a:t>CP353002 Principles of Software Design and Development</a:t>
            </a:r>
            <a:endParaRPr lang="en-US" sz="1400" dirty="0"/>
          </a:p>
        </p:txBody>
      </p:sp>
      <p:sp>
        <p:nvSpPr>
          <p:cNvPr id="3" name="Text 1"/>
          <p:cNvSpPr>
            <a:spLocks noGrp="1"/>
          </p:cNvSpPr>
          <p:nvPr>
            <p:ph type="title"/>
          </p:nvPr>
        </p:nvSpPr>
        <p:spPr>
          <a:xfrm>
            <a:off x="812800" y="1264841"/>
            <a:ext cx="10883392" cy="863600"/>
          </a:xfrm>
          <a:prstGeom prst="rect">
            <a:avLst/>
          </a:prstGeom>
          <a:noFill/>
          <a:ln/>
        </p:spPr>
        <p:txBody>
          <a:bodyPr wrap="square" lIns="0" tIns="0" rIns="0" bIns="0" rtlCol="0" anchor="t">
            <a:normAutofit/>
          </a:bodyPr>
          <a:lstStyle/>
          <a:p>
            <a:pPr marL="0" indent="0" algn="l">
              <a:lnSpc>
                <a:spcPts val="6600"/>
              </a:lnSpc>
              <a:buNone/>
            </a:pPr>
            <a:r>
              <a:rPr lang="en-US" sz="6000" b="1" i="0" dirty="0">
                <a:solidFill>
                  <a:srgbClr val="F7F5EF"/>
                </a:solidFill>
                <a:latin typeface="Kanit" pitchFamily="34" charset="0"/>
                <a:ea typeface="Kanit" pitchFamily="34" charset="-122"/>
                <a:cs typeface="Kanit" pitchFamily="34" charset="-120"/>
              </a:rPr>
              <a:t>ระบบจองห้องอาคาร SC09</a:t>
            </a:r>
            <a:endParaRPr lang="en-US" sz="6000" dirty="0"/>
          </a:p>
        </p:txBody>
      </p:sp>
      <p:sp>
        <p:nvSpPr>
          <p:cNvPr id="4" name="Text 2"/>
          <p:cNvSpPr/>
          <p:nvPr/>
        </p:nvSpPr>
        <p:spPr>
          <a:xfrm>
            <a:off x="812800" y="2306241"/>
            <a:ext cx="10883392"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C9D3E3"/>
                </a:solidFill>
                <a:latin typeface="IBM Plex Sans Thai" pitchFamily="34" charset="0"/>
                <a:ea typeface="IBM Plex Sans Thai" pitchFamily="34" charset="-122"/>
                <a:cs typeface="IBM Plex Sans Thai" pitchFamily="34" charset="-120"/>
              </a:rPr>
              <a:t>ค้นหาห้องว่าง จอง อนุมัติ และแจ้งเตือน ในเว็บเดียว</a:t>
            </a:r>
            <a:endParaRPr lang="en-US" sz="2000" dirty="0"/>
          </a:p>
        </p:txBody>
      </p:sp>
      <p:sp>
        <p:nvSpPr>
          <p:cNvPr id="5" name="Text 3"/>
          <p:cNvSpPr/>
          <p:nvPr/>
        </p:nvSpPr>
        <p:spPr>
          <a:xfrm>
            <a:off x="812800" y="5661720"/>
            <a:ext cx="1900039" cy="383480"/>
          </a:xfrm>
          <a:prstGeom prst="roundRect">
            <a:avLst>
              <a:gd name="adj" fmla="val 50000"/>
            </a:avLst>
          </a:prstGeom>
          <a:solidFill>
            <a:srgbClr val="24345A"/>
          </a:solidFill>
          <a:ln/>
        </p:spPr>
        <p:txBody>
          <a:bodyPr wrap="none" lIns="0" tIns="0" rIns="0" bIns="0" rtlCol="0" anchor="ctr">
            <a:normAutofit/>
          </a:bodyPr>
          <a:lstStyle/>
          <a:p>
            <a:pPr marL="0" indent="0" algn="ctr">
              <a:lnSpc>
                <a:spcPts val="1820"/>
              </a:lnSpc>
              <a:buNone/>
            </a:pPr>
            <a:r>
              <a:rPr lang="en-US" sz="1300" dirty="0">
                <a:solidFill>
                  <a:srgbClr val="F7F5EF"/>
                </a:solidFill>
                <a:latin typeface="IBM Plex Sans Thai" pitchFamily="34" charset="0"/>
                <a:ea typeface="IBM Plex Sans Thai" pitchFamily="34" charset="-122"/>
                <a:cs typeface="IBM Plex Sans Thai" pitchFamily="34" charset="-120"/>
              </a:rPr>
              <a:t>ดรัณภพ 6733804024</a:t>
            </a:r>
            <a:endParaRPr lang="en-US" sz="1300" dirty="0"/>
          </a:p>
        </p:txBody>
      </p:sp>
      <p:sp>
        <p:nvSpPr>
          <p:cNvPr id="6" name="Text 4"/>
          <p:cNvSpPr/>
          <p:nvPr/>
        </p:nvSpPr>
        <p:spPr>
          <a:xfrm>
            <a:off x="2865239" y="5661720"/>
            <a:ext cx="1821656" cy="383480"/>
          </a:xfrm>
          <a:prstGeom prst="roundRect">
            <a:avLst>
              <a:gd name="adj" fmla="val 50000"/>
            </a:avLst>
          </a:prstGeom>
          <a:solidFill>
            <a:srgbClr val="24345A"/>
          </a:solidFill>
          <a:ln/>
        </p:spPr>
        <p:txBody>
          <a:bodyPr wrap="none" lIns="0" tIns="0" rIns="0" bIns="0" rtlCol="0" anchor="ctr">
            <a:normAutofit/>
          </a:bodyPr>
          <a:lstStyle/>
          <a:p>
            <a:pPr marL="0" indent="0" algn="ctr">
              <a:lnSpc>
                <a:spcPts val="1820"/>
              </a:lnSpc>
              <a:buNone/>
            </a:pPr>
            <a:r>
              <a:rPr lang="en-US" sz="1300" dirty="0">
                <a:solidFill>
                  <a:srgbClr val="F7F5EF"/>
                </a:solidFill>
                <a:latin typeface="IBM Plex Sans Thai" pitchFamily="34" charset="0"/>
                <a:ea typeface="IBM Plex Sans Thai" pitchFamily="34" charset="-122"/>
                <a:cs typeface="IBM Plex Sans Thai" pitchFamily="34" charset="-120"/>
              </a:rPr>
              <a:t>กฤษฎา 6733803882</a:t>
            </a:r>
            <a:endParaRPr lang="en-US" sz="1300" dirty="0"/>
          </a:p>
        </p:txBody>
      </p:sp>
      <p:sp>
        <p:nvSpPr>
          <p:cNvPr id="7" name="Text 5"/>
          <p:cNvSpPr/>
          <p:nvPr/>
        </p:nvSpPr>
        <p:spPr>
          <a:xfrm>
            <a:off x="4839295" y="5661720"/>
            <a:ext cx="1828205" cy="383480"/>
          </a:xfrm>
          <a:prstGeom prst="roundRect">
            <a:avLst>
              <a:gd name="adj" fmla="val 50000"/>
            </a:avLst>
          </a:prstGeom>
          <a:solidFill>
            <a:srgbClr val="24345A"/>
          </a:solidFill>
          <a:ln/>
        </p:spPr>
        <p:txBody>
          <a:bodyPr wrap="none" lIns="0" tIns="0" rIns="0" bIns="0" rtlCol="0" anchor="ctr">
            <a:normAutofit/>
          </a:bodyPr>
          <a:lstStyle/>
          <a:p>
            <a:pPr marL="0" indent="0" algn="ctr">
              <a:lnSpc>
                <a:spcPts val="1820"/>
              </a:lnSpc>
              <a:buNone/>
            </a:pPr>
            <a:r>
              <a:rPr lang="en-US" sz="1300" dirty="0">
                <a:solidFill>
                  <a:srgbClr val="F7F5EF"/>
                </a:solidFill>
                <a:latin typeface="IBM Plex Sans Thai" pitchFamily="34" charset="0"/>
                <a:ea typeface="IBM Plex Sans Thai" pitchFamily="34" charset="-122"/>
                <a:cs typeface="IBM Plex Sans Thai" pitchFamily="34" charset="-120"/>
              </a:rPr>
              <a:t>อนัตตา 6733804294</a:t>
            </a:r>
            <a:endParaRPr lang="en-US" sz="1300" dirty="0"/>
          </a:p>
        </p:txBody>
      </p:sp>
      <p:sp>
        <p:nvSpPr>
          <p:cNvPr id="8" name="Text 6"/>
          <p:cNvSpPr/>
          <p:nvPr/>
        </p:nvSpPr>
        <p:spPr>
          <a:xfrm>
            <a:off x="6819900" y="5661720"/>
            <a:ext cx="1842393" cy="383480"/>
          </a:xfrm>
          <a:prstGeom prst="roundRect">
            <a:avLst>
              <a:gd name="adj" fmla="val 50000"/>
            </a:avLst>
          </a:prstGeom>
          <a:solidFill>
            <a:srgbClr val="24345A"/>
          </a:solidFill>
          <a:ln/>
        </p:spPr>
        <p:txBody>
          <a:bodyPr wrap="none" lIns="0" tIns="0" rIns="0" bIns="0" rtlCol="0" anchor="ctr">
            <a:normAutofit/>
          </a:bodyPr>
          <a:lstStyle/>
          <a:p>
            <a:pPr marL="0" indent="0" algn="ctr">
              <a:lnSpc>
                <a:spcPts val="1820"/>
              </a:lnSpc>
              <a:buNone/>
            </a:pPr>
            <a:r>
              <a:rPr lang="en-US" sz="1300" dirty="0">
                <a:solidFill>
                  <a:srgbClr val="F7F5EF"/>
                </a:solidFill>
                <a:latin typeface="IBM Plex Sans Thai" pitchFamily="34" charset="0"/>
                <a:ea typeface="IBM Plex Sans Thai" pitchFamily="34" charset="-122"/>
                <a:cs typeface="IBM Plex Sans Thai" pitchFamily="34" charset="-120"/>
              </a:rPr>
              <a:t>พัชรพล 6733804155</a:t>
            </a:r>
            <a:endParaRPr lang="en-US" sz="1300" dirty="0"/>
          </a:p>
        </p:txBody>
      </p:sp>
      <p:sp>
        <p:nvSpPr>
          <p:cNvPr id="9" name="Text 7"/>
          <p:cNvSpPr/>
          <p:nvPr/>
        </p:nvSpPr>
        <p:spPr>
          <a:xfrm>
            <a:off x="8814693" y="5661720"/>
            <a:ext cx="1862435" cy="383480"/>
          </a:xfrm>
          <a:prstGeom prst="roundRect">
            <a:avLst>
              <a:gd name="adj" fmla="val 50000"/>
            </a:avLst>
          </a:prstGeom>
          <a:solidFill>
            <a:srgbClr val="24345A"/>
          </a:solidFill>
          <a:ln/>
        </p:spPr>
        <p:txBody>
          <a:bodyPr wrap="none" lIns="0" tIns="0" rIns="0" bIns="0" rtlCol="0" anchor="ctr">
            <a:normAutofit/>
          </a:bodyPr>
          <a:lstStyle/>
          <a:p>
            <a:pPr marL="0" indent="0" algn="ctr">
              <a:lnSpc>
                <a:spcPts val="1820"/>
              </a:lnSpc>
              <a:buNone/>
            </a:pPr>
            <a:r>
              <a:rPr lang="en-US" sz="1300" dirty="0">
                <a:solidFill>
                  <a:srgbClr val="F7F5EF"/>
                </a:solidFill>
                <a:latin typeface="IBM Plex Sans Thai" pitchFamily="34" charset="0"/>
                <a:ea typeface="IBM Plex Sans Thai" pitchFamily="34" charset="-122"/>
                <a:cs typeface="IBM Plex Sans Thai" pitchFamily="34" charset="-120"/>
              </a:rPr>
              <a:t>ศุภกิตติ์ 6733804278</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E14"/>
                </a:solidFill>
                <a:latin typeface="IBM Plex Sans Thai" pitchFamily="34" charset="0"/>
                <a:ea typeface="IBM Plex Sans Thai" pitchFamily="34" charset="-122"/>
                <a:cs typeface="IBM Plex Sans Thai" pitchFamily="34" charset="-120"/>
              </a:rPr>
              <a:t>Problem and Scope</a:t>
            </a:r>
            <a:endParaRPr lang="en-US" sz="1400" dirty="0"/>
          </a:p>
        </p:txBody>
      </p:sp>
      <p:sp>
        <p:nvSpPr>
          <p:cNvPr id="3" name="Text 1"/>
          <p:cNvSpPr>
            <a:spLocks noGrp="1"/>
          </p:cNvSpPr>
          <p:nvPr>
            <p:ph type="title"/>
          </p:nvPr>
        </p:nvSpPr>
        <p:spPr>
          <a:xfrm>
            <a:off x="812800" y="1137841"/>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Kanit" pitchFamily="34" charset="0"/>
                <a:ea typeface="Kanit" pitchFamily="34" charset="-122"/>
                <a:cs typeface="Kanit" pitchFamily="34" charset="-120"/>
              </a:rPr>
              <a:t>ไม่รู้ว่าห้องไหนว่าง จองซ้อนกัน ไม่รู้ว่าห้องปิด</a:t>
            </a:r>
            <a:endParaRPr lang="en-US" sz="3200" dirty="0"/>
          </a:p>
        </p:txBody>
      </p:sp>
      <p:sp>
        <p:nvSpPr>
          <p:cNvPr id="4" name="Shape 2"/>
          <p:cNvSpPr/>
          <p:nvPr/>
        </p:nvSpPr>
        <p:spPr>
          <a:xfrm>
            <a:off x="815975" y="1862336"/>
            <a:ext cx="4571305" cy="565150"/>
          </a:xfrm>
          <a:prstGeom prst="roundRect">
            <a:avLst>
              <a:gd name="adj" fmla="val 17416"/>
            </a:avLst>
          </a:prstGeom>
          <a:solidFill>
            <a:srgbClr val="FFFFFF"/>
          </a:solidFill>
          <a:ln w="6350">
            <a:solidFill>
              <a:srgbClr val="DCDDE3"/>
            </a:solidFill>
            <a:prstDash val="solid"/>
          </a:ln>
        </p:spPr>
      </p:sp>
      <p:pic>
        <p:nvPicPr>
          <p:cNvPr id="5" name="Image 0" descr="Search"/>
          <p:cNvPicPr>
            <a:picLocks noChangeAspect="1"/>
          </p:cNvPicPr>
          <p:nvPr/>
        </p:nvPicPr>
        <p:blipFill>
          <a:blip r:embed="rId3"/>
          <a:srcRect/>
          <a:stretch/>
        </p:blipFill>
        <p:spPr>
          <a:xfrm>
            <a:off x="996950" y="2005211"/>
            <a:ext cx="279400" cy="279400"/>
          </a:xfrm>
          <a:prstGeom prst="rect">
            <a:avLst/>
          </a:prstGeom>
        </p:spPr>
      </p:pic>
      <p:sp>
        <p:nvSpPr>
          <p:cNvPr id="6" name="Text 3"/>
          <p:cNvSpPr/>
          <p:nvPr/>
        </p:nvSpPr>
        <p:spPr>
          <a:xfrm>
            <a:off x="1377950" y="2020491"/>
            <a:ext cx="337494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IBM Plex Sans Thai" pitchFamily="34" charset="0"/>
                <a:ea typeface="IBM Plex Sans Thai" pitchFamily="34" charset="-122"/>
                <a:cs typeface="IBM Plex Sans Thai" pitchFamily="34" charset="-120"/>
              </a:rPr>
              <a:t>ค้นหาห้องว่างตามเวลา ความจุ อุปกรณ์</a:t>
            </a:r>
            <a:endParaRPr lang="en-US" sz="1400" dirty="0"/>
          </a:p>
        </p:txBody>
      </p:sp>
      <p:sp>
        <p:nvSpPr>
          <p:cNvPr id="7" name="Shape 4"/>
          <p:cNvSpPr/>
          <p:nvPr/>
        </p:nvSpPr>
        <p:spPr>
          <a:xfrm>
            <a:off x="815975" y="2548136"/>
            <a:ext cx="4571305" cy="565150"/>
          </a:xfrm>
          <a:prstGeom prst="roundRect">
            <a:avLst>
              <a:gd name="adj" fmla="val 17416"/>
            </a:avLst>
          </a:prstGeom>
          <a:solidFill>
            <a:srgbClr val="FFFFFF"/>
          </a:solidFill>
          <a:ln w="6350">
            <a:solidFill>
              <a:srgbClr val="DCDDE3"/>
            </a:solidFill>
            <a:prstDash val="solid"/>
          </a:ln>
        </p:spPr>
      </p:sp>
      <p:pic>
        <p:nvPicPr>
          <p:cNvPr id="8" name="Image 1" descr="Lock"/>
          <p:cNvPicPr>
            <a:picLocks noChangeAspect="1"/>
          </p:cNvPicPr>
          <p:nvPr/>
        </p:nvPicPr>
        <p:blipFill>
          <a:blip r:embed="rId4"/>
          <a:srcRect/>
          <a:stretch/>
        </p:blipFill>
        <p:spPr>
          <a:xfrm>
            <a:off x="996950" y="2691011"/>
            <a:ext cx="279400" cy="279400"/>
          </a:xfrm>
          <a:prstGeom prst="rect">
            <a:avLst/>
          </a:prstGeom>
        </p:spPr>
      </p:pic>
      <p:sp>
        <p:nvSpPr>
          <p:cNvPr id="9" name="Text 5"/>
          <p:cNvSpPr/>
          <p:nvPr/>
        </p:nvSpPr>
        <p:spPr>
          <a:xfrm>
            <a:off x="1377950" y="2706291"/>
            <a:ext cx="2729151"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IBM Plex Sans Thai" pitchFamily="34" charset="0"/>
                <a:ea typeface="IBM Plex Sans Thai" pitchFamily="34" charset="-122"/>
                <a:cs typeface="IBM Plex Sans Thai" pitchFamily="34" charset="-120"/>
              </a:rPr>
              <a:t>ตรวจกฎและกันเวลาชนอัตโนมัติ</a:t>
            </a:r>
            <a:endParaRPr lang="en-US" sz="1400" dirty="0"/>
          </a:p>
        </p:txBody>
      </p:sp>
      <p:sp>
        <p:nvSpPr>
          <p:cNvPr id="10" name="Shape 6"/>
          <p:cNvSpPr/>
          <p:nvPr/>
        </p:nvSpPr>
        <p:spPr>
          <a:xfrm>
            <a:off x="815975" y="3233936"/>
            <a:ext cx="4571305" cy="565150"/>
          </a:xfrm>
          <a:prstGeom prst="roundRect">
            <a:avLst>
              <a:gd name="adj" fmla="val 17416"/>
            </a:avLst>
          </a:prstGeom>
          <a:solidFill>
            <a:srgbClr val="FFFFFF"/>
          </a:solidFill>
          <a:ln w="6350">
            <a:solidFill>
              <a:srgbClr val="DCDDE3"/>
            </a:solidFill>
            <a:prstDash val="solid"/>
          </a:ln>
        </p:spPr>
      </p:sp>
      <p:pic>
        <p:nvPicPr>
          <p:cNvPr id="11" name="Image 2" descr="CheckCircle"/>
          <p:cNvPicPr>
            <a:picLocks noChangeAspect="1"/>
          </p:cNvPicPr>
          <p:nvPr/>
        </p:nvPicPr>
        <p:blipFill>
          <a:blip r:embed="rId5"/>
          <a:srcRect/>
          <a:stretch/>
        </p:blipFill>
        <p:spPr>
          <a:xfrm>
            <a:off x="996950" y="3376811"/>
            <a:ext cx="279400" cy="279400"/>
          </a:xfrm>
          <a:prstGeom prst="rect">
            <a:avLst/>
          </a:prstGeom>
        </p:spPr>
      </p:pic>
      <p:sp>
        <p:nvSpPr>
          <p:cNvPr id="12" name="Text 7"/>
          <p:cNvSpPr/>
          <p:nvPr/>
        </p:nvSpPr>
        <p:spPr>
          <a:xfrm>
            <a:off x="1377950" y="3392091"/>
            <a:ext cx="260306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IBM Plex Sans Thai" pitchFamily="34" charset="0"/>
                <a:ea typeface="IBM Plex Sans Thai" pitchFamily="34" charset="-122"/>
                <a:cs typeface="IBM Plex Sans Thai" pitchFamily="34" charset="-120"/>
              </a:rPr>
              <a:t>อนุมัติ check-in และแจ้งเตือน</a:t>
            </a:r>
            <a:endParaRPr lang="en-US" sz="1400" dirty="0"/>
          </a:p>
        </p:txBody>
      </p:sp>
      <p:sp>
        <p:nvSpPr>
          <p:cNvPr id="13" name="Text 8"/>
          <p:cNvSpPr/>
          <p:nvPr/>
        </p:nvSpPr>
        <p:spPr>
          <a:xfrm>
            <a:off x="812800" y="3916561"/>
            <a:ext cx="471498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Thai" pitchFamily="34" charset="0"/>
                <a:ea typeface="IBM Plex Sans Thai" pitchFamily="34" charset="-122"/>
                <a:cs typeface="IBM Plex Sans Thai" pitchFamily="34" charset="-120"/>
              </a:rPr>
              <a:t>16 ห้องในอาคาร SC09 · เปิด 08:00–22:00 · จองภายในวันเดียว</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57155" y="1871861"/>
          <a:ext cx="5722045" cy="1796355"/>
        </p:xfrm>
        <a:graphic>
          <a:graphicData uri="http://schemas.openxmlformats.org/drawingml/2006/table">
            <a:tbl>
              <a:tblPr/>
              <a:tblGrid>
                <a:gridCol w="1945495">
                  <a:extLst>
                    <a:ext uri="{9D8B030D-6E8A-4147-A177-3AD203B41FA5}">
                      <a16:colId xmlns:a16="http://schemas.microsoft.com/office/drawing/2014/main" val="20000"/>
                    </a:ext>
                  </a:extLst>
                </a:gridCol>
                <a:gridCol w="1258850">
                  <a:extLst>
                    <a:ext uri="{9D8B030D-6E8A-4147-A177-3AD203B41FA5}">
                      <a16:colId xmlns:a16="http://schemas.microsoft.com/office/drawing/2014/main" val="20001"/>
                    </a:ext>
                  </a:extLst>
                </a:gridCol>
                <a:gridCol w="1258850">
                  <a:extLst>
                    <a:ext uri="{9D8B030D-6E8A-4147-A177-3AD203B41FA5}">
                      <a16:colId xmlns:a16="http://schemas.microsoft.com/office/drawing/2014/main" val="20002"/>
                    </a:ext>
                  </a:extLst>
                </a:gridCol>
                <a:gridCol w="1258850">
                  <a:extLst>
                    <a:ext uri="{9D8B030D-6E8A-4147-A177-3AD203B41FA5}">
                      <a16:colId xmlns:a16="http://schemas.microsoft.com/office/drawing/2014/main" val="20003"/>
                    </a:ext>
                  </a:extLst>
                </a:gridCol>
              </a:tblGrid>
              <a:tr h="359271">
                <a:tc>
                  <a:txBody>
                    <a:bodyPr/>
                    <a:lstStyle/>
                    <a:p>
                      <a:pPr marL="0" indent="0">
                        <a:lnSpc>
                          <a:spcPts val="1820"/>
                        </a:lnSpc>
                        <a:buNone/>
                      </a:pPr>
                      <a:r>
                        <a:rPr lang="en-US" sz="1300" b="1" dirty="0">
                          <a:solidFill>
                            <a:srgbClr val="F7F5EF"/>
                          </a:solidFill>
                          <a:latin typeface="IBM Plex Sans Thai" pitchFamily="34" charset="0"/>
                          <a:ea typeface="IBM Plex Sans Thai" pitchFamily="34" charset="-122"/>
                          <a:cs typeface="IBM Plex Sans Thai" pitchFamily="34" charset="-120"/>
                        </a:rPr>
                        <a:t>กลุ่มผู้ใช้</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7F5EF"/>
                          </a:solidFill>
                          <a:latin typeface="IBM Plex Sans Thai" pitchFamily="34" charset="0"/>
                          <a:ea typeface="IBM Plex Sans Thai" pitchFamily="34" charset="-122"/>
                          <a:cs typeface="IBM Plex Sans Thai" pitchFamily="34" charset="-120"/>
                        </a:rPr>
                        <a:t>นานสุด</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7F5EF"/>
                          </a:solidFill>
                          <a:latin typeface="IBM Plex Sans Thai" pitchFamily="34" charset="0"/>
                          <a:ea typeface="IBM Plex Sans Thai" pitchFamily="34" charset="-122"/>
                          <a:cs typeface="IBM Plex Sans Thai" pitchFamily="34" charset="-120"/>
                        </a:rPr>
                        <a:t>ล่วงหน้า</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7F5EF"/>
                          </a:solidFill>
                          <a:latin typeface="IBM Plex Sans Thai" pitchFamily="34" charset="0"/>
                          <a:ea typeface="IBM Plex Sans Thai" pitchFamily="34" charset="-122"/>
                          <a:cs typeface="IBM Plex Sans Thai" pitchFamily="34" charset="-120"/>
                        </a:rPr>
                        <a:t>อนุมัติ</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นักศึกษา</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2 ชม.</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7 วัน</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ต้องรอ</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อาจารย์</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solidFill>
                      <a:srgbClr val="EEF1F6"/>
                    </a:solidFill>
                  </a:tcPr>
                </a:tc>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4 ชม.</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BEC0C4"/>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solidFill>
                      <a:srgbClr val="EEF1F6"/>
                    </a:solidFill>
                  </a:tcPr>
                </a:tc>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30 วัน</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BEC0C4"/>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solidFill>
                      <a:srgbClr val="EEF1F6"/>
                    </a:solidFill>
                  </a:tcPr>
                </a:tc>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อัตโนมัติ</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BEC0C4"/>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solidFill>
                      <a:srgbClr val="EEF1F6"/>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เจ้าหน้าที่ / ผู้ดูแล</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8 ชม.</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90 วัน</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อัตโนมัติ</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ผู้เยี่ยมชม</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solidFill>
                      <a:srgbClr val="EEF1F6"/>
                    </a:solidFill>
                  </a:tcPr>
                </a:tc>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BEC0C4"/>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solidFill>
                      <a:srgbClr val="EEF1F6"/>
                    </a:solidFill>
                  </a:tcPr>
                </a:tc>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BEC0C4"/>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solidFill>
                      <a:srgbClr val="EEF1F6"/>
                    </a:solidFill>
                  </a:tcPr>
                </a:tc>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ดูห้องได้</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BEC0C4"/>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solidFill>
                      <a:srgbClr val="EEF1F6"/>
                    </a:solidFill>
                  </a:tcPr>
                </a:tc>
                <a:extLst>
                  <a:ext uri="{0D108BD9-81ED-4DB2-BD59-A6C34878D82A}">
                    <a16:rowId xmlns:a16="http://schemas.microsoft.com/office/drawing/2014/main" val="10004"/>
                  </a:ext>
                </a:extLst>
              </a:tr>
            </a:tbl>
          </a:graphicData>
        </a:graphic>
      </p:graphicFrame>
      <p:sp>
        <p:nvSpPr>
          <p:cNvPr id="15"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ผู้นำเสนอ: ดรัณภพ · 2 / 9 · Problem and Scope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1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E14"/>
                </a:solidFill>
                <a:latin typeface="IBM Plex Sans Thai" pitchFamily="34" charset="0"/>
                <a:ea typeface="IBM Plex Sans Thai" pitchFamily="34" charset="-122"/>
                <a:cs typeface="IBM Plex Sans Thai" pitchFamily="34" charset="-120"/>
              </a:rPr>
              <a:t>สถาปัตยกรรม</a:t>
            </a:r>
            <a:endParaRPr lang="en-US" sz="1400" dirty="0"/>
          </a:p>
        </p:txBody>
      </p:sp>
      <p:sp>
        <p:nvSpPr>
          <p:cNvPr id="3" name="Text 1"/>
          <p:cNvSpPr>
            <a:spLocks noGrp="1"/>
          </p:cNvSpPr>
          <p:nvPr>
            <p:ph type="title"/>
          </p:nvPr>
        </p:nvSpPr>
        <p:spPr>
          <a:xfrm>
            <a:off x="812800" y="1137841"/>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Kanit" pitchFamily="34" charset="0"/>
                <a:ea typeface="Kanit" pitchFamily="34" charset="-122"/>
                <a:cs typeface="Kanit" pitchFamily="34" charset="-120"/>
              </a:rPr>
              <a:t>แยก frontend, backend และฐานข้อมูล</a:t>
            </a:r>
            <a:endParaRPr lang="en-US" sz="3200" dirty="0"/>
          </a:p>
        </p:txBody>
      </p:sp>
      <p:sp>
        <p:nvSpPr>
          <p:cNvPr id="4" name="Shape 2"/>
          <p:cNvSpPr/>
          <p:nvPr/>
        </p:nvSpPr>
        <p:spPr>
          <a:xfrm>
            <a:off x="819150" y="1916311"/>
            <a:ext cx="2797473" cy="1287661"/>
          </a:xfrm>
          <a:prstGeom prst="roundRect">
            <a:avLst>
              <a:gd name="adj" fmla="val 9370"/>
            </a:avLst>
          </a:prstGeom>
          <a:solidFill>
            <a:srgbClr val="FFFFFF"/>
          </a:solidFill>
          <a:ln w="12700">
            <a:solidFill>
              <a:srgbClr val="14213D"/>
            </a:solidFill>
            <a:prstDash val="solid"/>
          </a:ln>
        </p:spPr>
      </p:sp>
      <p:sp>
        <p:nvSpPr>
          <p:cNvPr id="5" name="Text 3"/>
          <p:cNvSpPr/>
          <p:nvPr/>
        </p:nvSpPr>
        <p:spPr>
          <a:xfrm>
            <a:off x="1028700" y="2125861"/>
            <a:ext cx="2449724"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4213D"/>
                </a:solidFill>
                <a:latin typeface="Kanit" pitchFamily="34" charset="0"/>
                <a:ea typeface="Kanit" pitchFamily="34" charset="-122"/>
                <a:cs typeface="Kanit" pitchFamily="34" charset="-120"/>
              </a:rPr>
              <a:t>Next.js 16</a:t>
            </a:r>
            <a:endParaRPr lang="en-US" sz="2000" dirty="0"/>
          </a:p>
        </p:txBody>
      </p:sp>
      <p:sp>
        <p:nvSpPr>
          <p:cNvPr id="6" name="Text 4"/>
          <p:cNvSpPr/>
          <p:nvPr/>
        </p:nvSpPr>
        <p:spPr>
          <a:xfrm>
            <a:off x="1028700" y="2481461"/>
            <a:ext cx="244972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Thai" pitchFamily="34" charset="0"/>
                <a:ea typeface="IBM Plex Sans Thai" pitchFamily="34" charset="-122"/>
                <a:cs typeface="IBM Plex Sans Thai" pitchFamily="34" charset="-120"/>
              </a:rPr>
              <a:t>React 19, TypeScript, Tailwind</a:t>
            </a:r>
            <a:endParaRPr lang="en-US" sz="1300" dirty="0"/>
          </a:p>
        </p:txBody>
      </p:sp>
      <p:sp>
        <p:nvSpPr>
          <p:cNvPr id="7" name="Text 5"/>
          <p:cNvSpPr/>
          <p:nvPr/>
        </p:nvSpPr>
        <p:spPr>
          <a:xfrm>
            <a:off x="1028700" y="2763341"/>
            <a:ext cx="2449724"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A84E14"/>
                </a:solidFill>
                <a:latin typeface="IBM Plex Sans Thai" pitchFamily="34" charset="0"/>
                <a:ea typeface="IBM Plex Sans Thai" pitchFamily="34" charset="-122"/>
                <a:cs typeface="IBM Plex Sans Thai" pitchFamily="34" charset="-120"/>
              </a:rPr>
              <a:t>Vercel</a:t>
            </a:r>
            <a:endParaRPr lang="en-US" sz="1300" dirty="0"/>
          </a:p>
        </p:txBody>
      </p:sp>
      <p:pic>
        <p:nvPicPr>
          <p:cNvPr id="8" name="Image 0" descr="arrow-right"/>
          <p:cNvPicPr>
            <a:picLocks noChangeAspect="1"/>
          </p:cNvPicPr>
          <p:nvPr/>
        </p:nvPicPr>
        <p:blipFill>
          <a:blip r:embed="rId3"/>
          <a:srcRect/>
          <a:stretch/>
        </p:blipFill>
        <p:spPr>
          <a:xfrm>
            <a:off x="3749973" y="2445841"/>
            <a:ext cx="457200" cy="228600"/>
          </a:xfrm>
          <a:prstGeom prst="rect">
            <a:avLst/>
          </a:prstGeom>
        </p:spPr>
      </p:pic>
      <p:sp>
        <p:nvSpPr>
          <p:cNvPr id="9" name="Shape 6"/>
          <p:cNvSpPr/>
          <p:nvPr/>
        </p:nvSpPr>
        <p:spPr>
          <a:xfrm>
            <a:off x="4340523" y="1916311"/>
            <a:ext cx="3510955" cy="1287661"/>
          </a:xfrm>
          <a:prstGeom prst="roundRect">
            <a:avLst>
              <a:gd name="adj" fmla="val 9370"/>
            </a:avLst>
          </a:prstGeom>
          <a:solidFill>
            <a:srgbClr val="FFFFFF"/>
          </a:solidFill>
          <a:ln w="12700">
            <a:solidFill>
              <a:srgbClr val="14213D"/>
            </a:solidFill>
            <a:prstDash val="solid"/>
          </a:ln>
        </p:spPr>
      </p:sp>
      <p:sp>
        <p:nvSpPr>
          <p:cNvPr id="10" name="Text 7"/>
          <p:cNvSpPr/>
          <p:nvPr/>
        </p:nvSpPr>
        <p:spPr>
          <a:xfrm>
            <a:off x="4550073" y="2125861"/>
            <a:ext cx="3184610"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4213D"/>
                </a:solidFill>
                <a:latin typeface="Kanit" pitchFamily="34" charset="0"/>
                <a:ea typeface="Kanit" pitchFamily="34" charset="-122"/>
                <a:cs typeface="Kanit" pitchFamily="34" charset="-120"/>
              </a:rPr>
              <a:t>Spring Boot 4</a:t>
            </a:r>
            <a:endParaRPr lang="en-US" sz="2000" dirty="0"/>
          </a:p>
        </p:txBody>
      </p:sp>
      <p:sp>
        <p:nvSpPr>
          <p:cNvPr id="11" name="Text 8"/>
          <p:cNvSpPr/>
          <p:nvPr/>
        </p:nvSpPr>
        <p:spPr>
          <a:xfrm>
            <a:off x="4550073" y="2481461"/>
            <a:ext cx="318461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Thai" pitchFamily="34" charset="0"/>
                <a:ea typeface="IBM Plex Sans Thai" pitchFamily="34" charset="-122"/>
                <a:cs typeface="IBM Plex Sans Thai" pitchFamily="34" charset="-120"/>
              </a:rPr>
              <a:t>Java 17, Security + JWT, JPA, Flyway</a:t>
            </a:r>
            <a:endParaRPr lang="en-US" sz="1300" dirty="0"/>
          </a:p>
        </p:txBody>
      </p:sp>
      <p:sp>
        <p:nvSpPr>
          <p:cNvPr id="12" name="Text 9"/>
          <p:cNvSpPr/>
          <p:nvPr/>
        </p:nvSpPr>
        <p:spPr>
          <a:xfrm>
            <a:off x="4550073" y="2763341"/>
            <a:ext cx="318461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A84E14"/>
                </a:solidFill>
                <a:latin typeface="IBM Plex Sans Thai" pitchFamily="34" charset="0"/>
                <a:ea typeface="IBM Plex Sans Thai" pitchFamily="34" charset="-122"/>
                <a:cs typeface="IBM Plex Sans Thai" pitchFamily="34" charset="-120"/>
              </a:rPr>
              <a:t>Render (Docker)</a:t>
            </a:r>
            <a:endParaRPr lang="en-US" sz="1300" dirty="0"/>
          </a:p>
        </p:txBody>
      </p:sp>
      <p:pic>
        <p:nvPicPr>
          <p:cNvPr id="13" name="Image 1" descr="arrow-right"/>
          <p:cNvPicPr>
            <a:picLocks noChangeAspect="1"/>
          </p:cNvPicPr>
          <p:nvPr/>
        </p:nvPicPr>
        <p:blipFill>
          <a:blip r:embed="rId3"/>
          <a:srcRect/>
          <a:stretch/>
        </p:blipFill>
        <p:spPr>
          <a:xfrm>
            <a:off x="7984827" y="2445841"/>
            <a:ext cx="457200" cy="228600"/>
          </a:xfrm>
          <a:prstGeom prst="rect">
            <a:avLst/>
          </a:prstGeom>
        </p:spPr>
      </p:pic>
      <p:sp>
        <p:nvSpPr>
          <p:cNvPr id="14" name="Shape 10"/>
          <p:cNvSpPr/>
          <p:nvPr/>
        </p:nvSpPr>
        <p:spPr>
          <a:xfrm>
            <a:off x="8575377" y="1916311"/>
            <a:ext cx="2797473" cy="1287661"/>
          </a:xfrm>
          <a:prstGeom prst="roundRect">
            <a:avLst>
              <a:gd name="adj" fmla="val 9370"/>
            </a:avLst>
          </a:prstGeom>
          <a:solidFill>
            <a:srgbClr val="FFFFFF"/>
          </a:solidFill>
          <a:ln w="12700">
            <a:solidFill>
              <a:srgbClr val="14213D"/>
            </a:solidFill>
            <a:prstDash val="solid"/>
          </a:ln>
        </p:spPr>
      </p:sp>
      <p:sp>
        <p:nvSpPr>
          <p:cNvPr id="15" name="Text 11"/>
          <p:cNvSpPr/>
          <p:nvPr/>
        </p:nvSpPr>
        <p:spPr>
          <a:xfrm>
            <a:off x="8784927" y="2125861"/>
            <a:ext cx="2449724"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4213D"/>
                </a:solidFill>
                <a:latin typeface="Kanit" pitchFamily="34" charset="0"/>
                <a:ea typeface="Kanit" pitchFamily="34" charset="-122"/>
                <a:cs typeface="Kanit" pitchFamily="34" charset="-120"/>
              </a:rPr>
              <a:t>PostgreSQL 17</a:t>
            </a:r>
            <a:endParaRPr lang="en-US" sz="2000" dirty="0"/>
          </a:p>
        </p:txBody>
      </p:sp>
      <p:sp>
        <p:nvSpPr>
          <p:cNvPr id="16" name="Text 12"/>
          <p:cNvSpPr/>
          <p:nvPr/>
        </p:nvSpPr>
        <p:spPr>
          <a:xfrm>
            <a:off x="8784927" y="2481461"/>
            <a:ext cx="244972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Thai" pitchFamily="34" charset="0"/>
                <a:ea typeface="IBM Plex Sans Thai" pitchFamily="34" charset="-122"/>
                <a:cs typeface="IBM Plex Sans Thai" pitchFamily="34" charset="-120"/>
              </a:rPr>
              <a:t>10 ตาราง, migration V1–V5</a:t>
            </a:r>
            <a:endParaRPr lang="en-US" sz="1300" dirty="0"/>
          </a:p>
        </p:txBody>
      </p:sp>
      <p:sp>
        <p:nvSpPr>
          <p:cNvPr id="17" name="Text 13"/>
          <p:cNvSpPr/>
          <p:nvPr/>
        </p:nvSpPr>
        <p:spPr>
          <a:xfrm>
            <a:off x="8784927" y="2763341"/>
            <a:ext cx="2449724"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A84E14"/>
                </a:solidFill>
                <a:latin typeface="IBM Plex Sans Thai" pitchFamily="34" charset="0"/>
                <a:ea typeface="IBM Plex Sans Thai" pitchFamily="34" charset="-122"/>
                <a:cs typeface="IBM Plex Sans Thai" pitchFamily="34" charset="-120"/>
              </a:rPr>
              <a:t>Neon</a:t>
            </a:r>
            <a:endParaRPr lang="en-US" sz="1300" dirty="0"/>
          </a:p>
        </p:txBody>
      </p:sp>
      <p:sp>
        <p:nvSpPr>
          <p:cNvPr id="18" name="Text 14"/>
          <p:cNvSpPr/>
          <p:nvPr/>
        </p:nvSpPr>
        <p:spPr>
          <a:xfrm>
            <a:off x="812800" y="3595092"/>
            <a:ext cx="158591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Thai" pitchFamily="34" charset="0"/>
                <a:ea typeface="IBM Plex Sans Thai" pitchFamily="34" charset="-122"/>
                <a:cs typeface="IBM Plex Sans Thai" pitchFamily="34" charset="-120"/>
              </a:rPr>
              <a:t>Backend แบ่งชั้น:</a:t>
            </a:r>
            <a:endParaRPr lang="en-US" sz="1500" dirty="0"/>
          </a:p>
        </p:txBody>
      </p:sp>
      <p:sp>
        <p:nvSpPr>
          <p:cNvPr id="19" name="Text 15"/>
          <p:cNvSpPr/>
          <p:nvPr/>
        </p:nvSpPr>
        <p:spPr>
          <a:xfrm>
            <a:off x="2398713" y="3515122"/>
            <a:ext cx="1151632" cy="426641"/>
          </a:xfrm>
          <a:prstGeom prst="roundRect">
            <a:avLst>
              <a:gd name="adj" fmla="val 17860"/>
            </a:avLst>
          </a:prstGeom>
          <a:solidFill>
            <a:srgbClr val="14213D"/>
          </a:solidFill>
          <a:ln/>
        </p:spPr>
        <p:txBody>
          <a:bodyPr wrap="none" lIns="0" tIns="0" rIns="0" bIns="0" rtlCol="0" anchor="ctr">
            <a:normAutofit/>
          </a:bodyPr>
          <a:lstStyle/>
          <a:p>
            <a:pPr marL="0" indent="0" algn="ctr">
              <a:lnSpc>
                <a:spcPts val="1960"/>
              </a:lnSpc>
              <a:buNone/>
            </a:pPr>
            <a:r>
              <a:rPr lang="en-US" sz="1400" dirty="0">
                <a:solidFill>
                  <a:srgbClr val="F7F5EF"/>
                </a:solidFill>
                <a:latin typeface="IBM Plex Sans Thai" pitchFamily="34" charset="0"/>
                <a:ea typeface="IBM Plex Sans Thai" pitchFamily="34" charset="-122"/>
                <a:cs typeface="IBM Plex Sans Thai" pitchFamily="34" charset="-120"/>
              </a:rPr>
              <a:t>Controller</a:t>
            </a:r>
            <a:endParaRPr lang="en-US" sz="1400" dirty="0"/>
          </a:p>
        </p:txBody>
      </p:sp>
      <p:pic>
        <p:nvPicPr>
          <p:cNvPr id="20" name="Image 2" descr="arrow-right"/>
          <p:cNvPicPr>
            <a:picLocks noChangeAspect="1"/>
          </p:cNvPicPr>
          <p:nvPr/>
        </p:nvPicPr>
        <p:blipFill>
          <a:blip r:embed="rId4"/>
          <a:srcRect/>
          <a:stretch/>
        </p:blipFill>
        <p:spPr>
          <a:xfrm>
            <a:off x="3702745" y="3664942"/>
            <a:ext cx="254000" cy="127000"/>
          </a:xfrm>
          <a:prstGeom prst="rect">
            <a:avLst/>
          </a:prstGeom>
        </p:spPr>
      </p:pic>
      <p:sp>
        <p:nvSpPr>
          <p:cNvPr id="21" name="Text 16"/>
          <p:cNvSpPr/>
          <p:nvPr/>
        </p:nvSpPr>
        <p:spPr>
          <a:xfrm>
            <a:off x="4109145" y="3515122"/>
            <a:ext cx="941487" cy="426641"/>
          </a:xfrm>
          <a:prstGeom prst="roundRect">
            <a:avLst>
              <a:gd name="adj" fmla="val 17860"/>
            </a:avLst>
          </a:prstGeom>
          <a:solidFill>
            <a:srgbClr val="14213D"/>
          </a:solidFill>
          <a:ln/>
        </p:spPr>
        <p:txBody>
          <a:bodyPr wrap="none" lIns="0" tIns="0" rIns="0" bIns="0" rtlCol="0" anchor="ctr">
            <a:normAutofit/>
          </a:bodyPr>
          <a:lstStyle/>
          <a:p>
            <a:pPr marL="0" indent="0" algn="ctr">
              <a:lnSpc>
                <a:spcPts val="1960"/>
              </a:lnSpc>
              <a:buNone/>
            </a:pPr>
            <a:r>
              <a:rPr lang="en-US" sz="1400" dirty="0">
                <a:solidFill>
                  <a:srgbClr val="F7F5EF"/>
                </a:solidFill>
                <a:latin typeface="IBM Plex Sans Thai" pitchFamily="34" charset="0"/>
                <a:ea typeface="IBM Plex Sans Thai" pitchFamily="34" charset="-122"/>
                <a:cs typeface="IBM Plex Sans Thai" pitchFamily="34" charset="-120"/>
              </a:rPr>
              <a:t>Service</a:t>
            </a:r>
            <a:endParaRPr lang="en-US" sz="1400" dirty="0"/>
          </a:p>
        </p:txBody>
      </p:sp>
      <p:pic>
        <p:nvPicPr>
          <p:cNvPr id="22" name="Image 3" descr="arrow-right"/>
          <p:cNvPicPr>
            <a:picLocks noChangeAspect="1"/>
          </p:cNvPicPr>
          <p:nvPr/>
        </p:nvPicPr>
        <p:blipFill>
          <a:blip r:embed="rId4"/>
          <a:srcRect/>
          <a:stretch/>
        </p:blipFill>
        <p:spPr>
          <a:xfrm>
            <a:off x="5203031" y="3664942"/>
            <a:ext cx="254000" cy="127000"/>
          </a:xfrm>
          <a:prstGeom prst="rect">
            <a:avLst/>
          </a:prstGeom>
        </p:spPr>
      </p:pic>
      <p:sp>
        <p:nvSpPr>
          <p:cNvPr id="23" name="Text 17"/>
          <p:cNvSpPr/>
          <p:nvPr/>
        </p:nvSpPr>
        <p:spPr>
          <a:xfrm>
            <a:off x="5609431" y="3515122"/>
            <a:ext cx="1215132" cy="426641"/>
          </a:xfrm>
          <a:prstGeom prst="roundRect">
            <a:avLst>
              <a:gd name="adj" fmla="val 17860"/>
            </a:avLst>
          </a:prstGeom>
          <a:solidFill>
            <a:srgbClr val="14213D"/>
          </a:solidFill>
          <a:ln/>
        </p:spPr>
        <p:txBody>
          <a:bodyPr wrap="none" lIns="0" tIns="0" rIns="0" bIns="0" rtlCol="0" anchor="ctr">
            <a:normAutofit/>
          </a:bodyPr>
          <a:lstStyle/>
          <a:p>
            <a:pPr marL="0" indent="0" algn="ctr">
              <a:lnSpc>
                <a:spcPts val="1960"/>
              </a:lnSpc>
              <a:buNone/>
            </a:pPr>
            <a:r>
              <a:rPr lang="en-US" sz="1400" dirty="0">
                <a:solidFill>
                  <a:srgbClr val="F7F5EF"/>
                </a:solidFill>
                <a:latin typeface="IBM Plex Sans Thai" pitchFamily="34" charset="0"/>
                <a:ea typeface="IBM Plex Sans Thai" pitchFamily="34" charset="-122"/>
                <a:cs typeface="IBM Plex Sans Thai" pitchFamily="34" charset="-120"/>
              </a:rPr>
              <a:t>Repository</a:t>
            </a:r>
            <a:endParaRPr lang="en-US" sz="1400" dirty="0"/>
          </a:p>
        </p:txBody>
      </p:sp>
      <p:pic>
        <p:nvPicPr>
          <p:cNvPr id="24" name="Image 4" descr="arrow-right"/>
          <p:cNvPicPr>
            <a:picLocks noChangeAspect="1"/>
          </p:cNvPicPr>
          <p:nvPr/>
        </p:nvPicPr>
        <p:blipFill>
          <a:blip r:embed="rId4"/>
          <a:srcRect/>
          <a:stretch/>
        </p:blipFill>
        <p:spPr>
          <a:xfrm>
            <a:off x="6976963" y="3664942"/>
            <a:ext cx="254000" cy="127000"/>
          </a:xfrm>
          <a:prstGeom prst="rect">
            <a:avLst/>
          </a:prstGeom>
        </p:spPr>
      </p:pic>
      <p:sp>
        <p:nvSpPr>
          <p:cNvPr id="25" name="Text 18"/>
          <p:cNvSpPr/>
          <p:nvPr/>
        </p:nvSpPr>
        <p:spPr>
          <a:xfrm>
            <a:off x="7383363" y="3515122"/>
            <a:ext cx="818257" cy="426641"/>
          </a:xfrm>
          <a:prstGeom prst="roundRect">
            <a:avLst>
              <a:gd name="adj" fmla="val 17860"/>
            </a:avLst>
          </a:prstGeom>
          <a:solidFill>
            <a:srgbClr val="14213D"/>
          </a:solidFill>
          <a:ln/>
        </p:spPr>
        <p:txBody>
          <a:bodyPr wrap="none" lIns="0" tIns="0" rIns="0" bIns="0" rtlCol="0" anchor="ctr">
            <a:normAutofit/>
          </a:bodyPr>
          <a:lstStyle/>
          <a:p>
            <a:pPr marL="0" indent="0" algn="ctr">
              <a:lnSpc>
                <a:spcPts val="1960"/>
              </a:lnSpc>
              <a:buNone/>
            </a:pPr>
            <a:r>
              <a:rPr lang="en-US" sz="1400" dirty="0">
                <a:solidFill>
                  <a:srgbClr val="F7F5EF"/>
                </a:solidFill>
                <a:latin typeface="IBM Plex Sans Thai" pitchFamily="34" charset="0"/>
                <a:ea typeface="IBM Plex Sans Thai" pitchFamily="34" charset="-122"/>
                <a:cs typeface="IBM Plex Sans Thai" pitchFamily="34" charset="-120"/>
              </a:rPr>
              <a:t>Entity</a:t>
            </a:r>
            <a:endParaRPr lang="en-US" sz="1400" dirty="0"/>
          </a:p>
        </p:txBody>
      </p:sp>
      <p:sp>
        <p:nvSpPr>
          <p:cNvPr id="26" name="Text 19"/>
          <p:cNvSpPr/>
          <p:nvPr/>
        </p:nvSpPr>
        <p:spPr>
          <a:xfrm>
            <a:off x="812800" y="4246563"/>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IBM Plex Sans Thai" pitchFamily="34" charset="0"/>
                <a:ea typeface="IBM Plex Sans Thai" pitchFamily="34" charset="-122"/>
                <a:cs typeface="IBM Plex Sans Thai" pitchFamily="34" charset="-120"/>
              </a:rPr>
              <a:t>REST API ใต้ /api/v1 ทั้งหมด, error รูปแบบเดียวกัน, เอกสาร API ที่ Swagger UI</a:t>
            </a:r>
            <a:endParaRPr lang="en-US" sz="1400" dirty="0"/>
          </a:p>
        </p:txBody>
      </p:sp>
      <p:sp>
        <p:nvSpPr>
          <p:cNvPr id="27"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ผู้นำเสนอ: ดรัณภพ · 3 / 9 · Design and Architecture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E14"/>
                </a:solidFill>
                <a:latin typeface="IBM Plex Sans Thai" pitchFamily="34" charset="0"/>
                <a:ea typeface="IBM Plex Sans Thai" pitchFamily="34" charset="-122"/>
                <a:cs typeface="IBM Plex Sans Thai" pitchFamily="34" charset="-120"/>
              </a:rPr>
              <a:t>Design Patterns · GoF Behavioral 4 แบบ</a:t>
            </a:r>
            <a:endParaRPr lang="en-US" sz="1400" dirty="0"/>
          </a:p>
        </p:txBody>
      </p:sp>
      <p:sp>
        <p:nvSpPr>
          <p:cNvPr id="3" name="Text 1"/>
          <p:cNvSpPr>
            <a:spLocks noGrp="1"/>
          </p:cNvSpPr>
          <p:nvPr>
            <p:ph type="title"/>
          </p:nvPr>
        </p:nvSpPr>
        <p:spPr>
          <a:xfrm>
            <a:off x="812800" y="1137841"/>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Kanit" pitchFamily="34" charset="0"/>
                <a:ea typeface="Kanit" pitchFamily="34" charset="-122"/>
                <a:cs typeface="Kanit" pitchFamily="34" charset="-120"/>
              </a:rPr>
              <a:t>แต่ละ pattern แก้ปัญหาจริงหนึ่งข้อ</a:t>
            </a:r>
            <a:endParaRPr lang="en-US" sz="3200" dirty="0"/>
          </a:p>
        </p:txBody>
      </p:sp>
      <p:sp>
        <p:nvSpPr>
          <p:cNvPr id="4" name="Shape 2"/>
          <p:cNvSpPr/>
          <p:nvPr/>
        </p:nvSpPr>
        <p:spPr>
          <a:xfrm>
            <a:off x="815975" y="1862336"/>
            <a:ext cx="5200650" cy="1423491"/>
          </a:xfrm>
          <a:prstGeom prst="roundRect">
            <a:avLst>
              <a:gd name="adj" fmla="val 6914"/>
            </a:avLst>
          </a:prstGeom>
          <a:solidFill>
            <a:srgbClr val="FFFFFF"/>
          </a:solidFill>
          <a:ln w="6350">
            <a:solidFill>
              <a:srgbClr val="DCDDE3"/>
            </a:solidFill>
            <a:prstDash val="solid"/>
          </a:ln>
        </p:spPr>
      </p:sp>
      <p:sp>
        <p:nvSpPr>
          <p:cNvPr id="5" name="Text 3"/>
          <p:cNvSpPr/>
          <p:nvPr/>
        </p:nvSpPr>
        <p:spPr>
          <a:xfrm>
            <a:off x="996950" y="2043311"/>
            <a:ext cx="498386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4E14"/>
                </a:solidFill>
                <a:latin typeface="IBM Plex Sans Thai" pitchFamily="34" charset="0"/>
                <a:ea typeface="IBM Plex Sans Thai" pitchFamily="34" charset="-122"/>
                <a:cs typeface="IBM Plex Sans Thai" pitchFamily="34" charset="-120"/>
              </a:rPr>
              <a:t>Strategy · ดรัณภพ</a:t>
            </a:r>
            <a:endParaRPr lang="en-US" sz="1200" dirty="0"/>
          </a:p>
        </p:txBody>
      </p:sp>
      <p:sp>
        <p:nvSpPr>
          <p:cNvPr id="6" name="Text 4"/>
          <p:cNvSpPr/>
          <p:nvPr/>
        </p:nvSpPr>
        <p:spPr>
          <a:xfrm>
            <a:off x="996950" y="2320131"/>
            <a:ext cx="4983861" cy="284460"/>
          </a:xfrm>
          <a:prstGeom prst="rect">
            <a:avLst/>
          </a:prstGeom>
          <a:noFill/>
          <a:ln/>
        </p:spPr>
        <p:txBody>
          <a:bodyPr wrap="square" lIns="0" tIns="0" rIns="0" bIns="0" rtlCol="0" anchor="t">
            <a:normAutofit/>
          </a:bodyPr>
          <a:lstStyle/>
          <a:p>
            <a:pPr marL="0" indent="0" algn="l">
              <a:lnSpc>
                <a:spcPts val="2040"/>
              </a:lnSpc>
              <a:buNone/>
            </a:pPr>
            <a:r>
              <a:rPr lang="en-US" sz="1700" dirty="0">
                <a:solidFill>
                  <a:srgbClr val="14213D"/>
                </a:solidFill>
                <a:latin typeface="Kanit" pitchFamily="34" charset="0"/>
                <a:ea typeface="Kanit" pitchFamily="34" charset="-122"/>
                <a:cs typeface="Kanit" pitchFamily="34" charset="-120"/>
              </a:rPr>
              <a:t>กฎตามบทบาท</a:t>
            </a:r>
            <a:endParaRPr lang="en-US" sz="1700" dirty="0"/>
          </a:p>
        </p:txBody>
      </p:sp>
      <p:sp>
        <p:nvSpPr>
          <p:cNvPr id="7" name="Text 5"/>
          <p:cNvSpPr/>
          <p:nvPr/>
        </p:nvSpPr>
        <p:spPr>
          <a:xfrm>
            <a:off x="996950" y="2642691"/>
            <a:ext cx="4983861"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Thai" pitchFamily="34" charset="0"/>
                <a:ea typeface="IBM Plex Sans Thai" pitchFamily="34" charset="-122"/>
                <a:cs typeface="IBM Plex Sans Thai" pitchFamily="34" charset="-120"/>
              </a:rPr>
              <a:t>Student / Lecturer / StaffBookingPolicy เลือกจาก Map ตาม role ไม่มี if-else</a:t>
            </a:r>
            <a:endParaRPr lang="en-US" sz="1300" dirty="0"/>
          </a:p>
        </p:txBody>
      </p:sp>
      <p:sp>
        <p:nvSpPr>
          <p:cNvPr id="8" name="Shape 6"/>
          <p:cNvSpPr/>
          <p:nvPr/>
        </p:nvSpPr>
        <p:spPr>
          <a:xfrm>
            <a:off x="6175375" y="1862336"/>
            <a:ext cx="5200650" cy="1423491"/>
          </a:xfrm>
          <a:prstGeom prst="roundRect">
            <a:avLst>
              <a:gd name="adj" fmla="val 6914"/>
            </a:avLst>
          </a:prstGeom>
          <a:solidFill>
            <a:srgbClr val="FFFFFF"/>
          </a:solidFill>
          <a:ln w="6350">
            <a:solidFill>
              <a:srgbClr val="DCDDE3"/>
            </a:solidFill>
            <a:prstDash val="solid"/>
          </a:ln>
        </p:spPr>
      </p:sp>
      <p:sp>
        <p:nvSpPr>
          <p:cNvPr id="9" name="Text 7"/>
          <p:cNvSpPr/>
          <p:nvPr/>
        </p:nvSpPr>
        <p:spPr>
          <a:xfrm>
            <a:off x="6356350" y="2043311"/>
            <a:ext cx="498386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4E14"/>
                </a:solidFill>
                <a:latin typeface="IBM Plex Sans Thai" pitchFamily="34" charset="0"/>
                <a:ea typeface="IBM Plex Sans Thai" pitchFamily="34" charset="-122"/>
                <a:cs typeface="IBM Plex Sans Thai" pitchFamily="34" charset="-120"/>
              </a:rPr>
              <a:t>Chain of Responsibility · อนัตตา</a:t>
            </a:r>
            <a:endParaRPr lang="en-US" sz="1200" dirty="0"/>
          </a:p>
        </p:txBody>
      </p:sp>
      <p:sp>
        <p:nvSpPr>
          <p:cNvPr id="10" name="Text 8"/>
          <p:cNvSpPr/>
          <p:nvPr/>
        </p:nvSpPr>
        <p:spPr>
          <a:xfrm>
            <a:off x="6356350" y="2320131"/>
            <a:ext cx="4983861" cy="284460"/>
          </a:xfrm>
          <a:prstGeom prst="rect">
            <a:avLst/>
          </a:prstGeom>
          <a:noFill/>
          <a:ln/>
        </p:spPr>
        <p:txBody>
          <a:bodyPr wrap="square" lIns="0" tIns="0" rIns="0" bIns="0" rtlCol="0" anchor="t">
            <a:normAutofit/>
          </a:bodyPr>
          <a:lstStyle/>
          <a:p>
            <a:pPr marL="0" indent="0" algn="l">
              <a:lnSpc>
                <a:spcPts val="2040"/>
              </a:lnSpc>
              <a:buNone/>
            </a:pPr>
            <a:r>
              <a:rPr lang="en-US" sz="1700" dirty="0">
                <a:solidFill>
                  <a:srgbClr val="14213D"/>
                </a:solidFill>
                <a:latin typeface="Kanit" pitchFamily="34" charset="0"/>
                <a:ea typeface="Kanit" pitchFamily="34" charset="-122"/>
                <a:cs typeface="Kanit" pitchFamily="34" charset="-120"/>
              </a:rPr>
              <a:t>ตรวจคำขอ 5 ขั้น</a:t>
            </a:r>
            <a:endParaRPr lang="en-US" sz="1700" dirty="0"/>
          </a:p>
        </p:txBody>
      </p:sp>
      <p:sp>
        <p:nvSpPr>
          <p:cNvPr id="11" name="Text 9"/>
          <p:cNvSpPr/>
          <p:nvPr/>
        </p:nvSpPr>
        <p:spPr>
          <a:xfrm>
            <a:off x="6356350" y="2642691"/>
            <a:ext cx="50165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Thai" pitchFamily="34" charset="0"/>
                <a:ea typeface="IBM Plex Sans Thai" pitchFamily="34" charset="-122"/>
                <a:cs typeface="IBM Plex Sans Thai" pitchFamily="34" charset="-120"/>
              </a:rPr>
              <a:t>เวลา → กฎบทบาท → ห้อง → ช่วงปิด → เวลาชน ไม่ผ่านขั้นไหนหยุดทันที</a:t>
            </a:r>
            <a:endParaRPr lang="en-US" sz="1300" dirty="0"/>
          </a:p>
        </p:txBody>
      </p:sp>
      <p:sp>
        <p:nvSpPr>
          <p:cNvPr id="12" name="Shape 10"/>
          <p:cNvSpPr/>
          <p:nvPr/>
        </p:nvSpPr>
        <p:spPr>
          <a:xfrm>
            <a:off x="815975" y="3444577"/>
            <a:ext cx="5200650" cy="1423491"/>
          </a:xfrm>
          <a:prstGeom prst="roundRect">
            <a:avLst>
              <a:gd name="adj" fmla="val 6914"/>
            </a:avLst>
          </a:prstGeom>
          <a:solidFill>
            <a:srgbClr val="FFFFFF"/>
          </a:solidFill>
          <a:ln w="6350">
            <a:solidFill>
              <a:srgbClr val="DCDDE3"/>
            </a:solidFill>
            <a:prstDash val="solid"/>
          </a:ln>
        </p:spPr>
      </p:sp>
      <p:sp>
        <p:nvSpPr>
          <p:cNvPr id="13" name="Text 11"/>
          <p:cNvSpPr/>
          <p:nvPr/>
        </p:nvSpPr>
        <p:spPr>
          <a:xfrm>
            <a:off x="996950" y="3625552"/>
            <a:ext cx="498386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4E14"/>
                </a:solidFill>
                <a:latin typeface="IBM Plex Sans Thai" pitchFamily="34" charset="0"/>
                <a:ea typeface="IBM Plex Sans Thai" pitchFamily="34" charset="-122"/>
                <a:cs typeface="IBM Plex Sans Thai" pitchFamily="34" charset="-120"/>
              </a:rPr>
              <a:t>State · พัชรพล</a:t>
            </a:r>
            <a:endParaRPr lang="en-US" sz="1200" dirty="0"/>
          </a:p>
        </p:txBody>
      </p:sp>
      <p:sp>
        <p:nvSpPr>
          <p:cNvPr id="14" name="Text 12"/>
          <p:cNvSpPr/>
          <p:nvPr/>
        </p:nvSpPr>
        <p:spPr>
          <a:xfrm>
            <a:off x="996950" y="3902373"/>
            <a:ext cx="4983861" cy="284460"/>
          </a:xfrm>
          <a:prstGeom prst="rect">
            <a:avLst/>
          </a:prstGeom>
          <a:noFill/>
          <a:ln/>
        </p:spPr>
        <p:txBody>
          <a:bodyPr wrap="square" lIns="0" tIns="0" rIns="0" bIns="0" rtlCol="0" anchor="t">
            <a:normAutofit/>
          </a:bodyPr>
          <a:lstStyle/>
          <a:p>
            <a:pPr marL="0" indent="0" algn="l">
              <a:lnSpc>
                <a:spcPts val="2040"/>
              </a:lnSpc>
              <a:buNone/>
            </a:pPr>
            <a:r>
              <a:rPr lang="en-US" sz="1700" dirty="0">
                <a:solidFill>
                  <a:srgbClr val="14213D"/>
                </a:solidFill>
                <a:latin typeface="Kanit" pitchFamily="34" charset="0"/>
                <a:ea typeface="Kanit" pitchFamily="34" charset="-122"/>
                <a:cs typeface="Kanit" pitchFamily="34" charset="-120"/>
              </a:rPr>
              <a:t>7 สถานะของการจอง</a:t>
            </a:r>
            <a:endParaRPr lang="en-US" sz="1700" dirty="0"/>
          </a:p>
        </p:txBody>
      </p:sp>
      <p:sp>
        <p:nvSpPr>
          <p:cNvPr id="15" name="Text 13"/>
          <p:cNvSpPr/>
          <p:nvPr/>
        </p:nvSpPr>
        <p:spPr>
          <a:xfrm>
            <a:off x="996950" y="4224933"/>
            <a:ext cx="4983861"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Thai" pitchFamily="34" charset="0"/>
                <a:ea typeface="IBM Plex Sans Thai" pitchFamily="34" charset="-122"/>
                <a:cs typeface="IBM Plex Sans Thai" pitchFamily="34" charset="-120"/>
              </a:rPr>
              <a:t>แต่ละสถานะประกาศ action ที่รับได้ ทำผิดสถานะได้ 409</a:t>
            </a:r>
            <a:endParaRPr lang="en-US" sz="1300" dirty="0"/>
          </a:p>
        </p:txBody>
      </p:sp>
      <p:sp>
        <p:nvSpPr>
          <p:cNvPr id="16" name="Shape 14"/>
          <p:cNvSpPr/>
          <p:nvPr/>
        </p:nvSpPr>
        <p:spPr>
          <a:xfrm>
            <a:off x="6175375" y="3444577"/>
            <a:ext cx="5200650" cy="1423491"/>
          </a:xfrm>
          <a:prstGeom prst="roundRect">
            <a:avLst>
              <a:gd name="adj" fmla="val 6914"/>
            </a:avLst>
          </a:prstGeom>
          <a:solidFill>
            <a:srgbClr val="FFFFFF"/>
          </a:solidFill>
          <a:ln w="6350">
            <a:solidFill>
              <a:srgbClr val="DCDDE3"/>
            </a:solidFill>
            <a:prstDash val="solid"/>
          </a:ln>
        </p:spPr>
      </p:sp>
      <p:sp>
        <p:nvSpPr>
          <p:cNvPr id="17" name="Text 15"/>
          <p:cNvSpPr/>
          <p:nvPr/>
        </p:nvSpPr>
        <p:spPr>
          <a:xfrm>
            <a:off x="6356350" y="3625552"/>
            <a:ext cx="498386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84E14"/>
                </a:solidFill>
                <a:latin typeface="IBM Plex Sans Thai" pitchFamily="34" charset="0"/>
                <a:ea typeface="IBM Plex Sans Thai" pitchFamily="34" charset="-122"/>
                <a:cs typeface="IBM Plex Sans Thai" pitchFamily="34" charset="-120"/>
              </a:rPr>
              <a:t>Observer · ศุภกิตติ์</a:t>
            </a:r>
            <a:endParaRPr lang="en-US" sz="1200" dirty="0"/>
          </a:p>
        </p:txBody>
      </p:sp>
      <p:sp>
        <p:nvSpPr>
          <p:cNvPr id="18" name="Text 16"/>
          <p:cNvSpPr/>
          <p:nvPr/>
        </p:nvSpPr>
        <p:spPr>
          <a:xfrm>
            <a:off x="6356350" y="3902373"/>
            <a:ext cx="4983861" cy="284460"/>
          </a:xfrm>
          <a:prstGeom prst="rect">
            <a:avLst/>
          </a:prstGeom>
          <a:noFill/>
          <a:ln/>
        </p:spPr>
        <p:txBody>
          <a:bodyPr wrap="square" lIns="0" tIns="0" rIns="0" bIns="0" rtlCol="0" anchor="t">
            <a:normAutofit/>
          </a:bodyPr>
          <a:lstStyle/>
          <a:p>
            <a:pPr marL="0" indent="0" algn="l">
              <a:lnSpc>
                <a:spcPts val="2040"/>
              </a:lnSpc>
              <a:buNone/>
            </a:pPr>
            <a:r>
              <a:rPr lang="en-US" sz="1700" dirty="0">
                <a:solidFill>
                  <a:srgbClr val="14213D"/>
                </a:solidFill>
                <a:latin typeface="Kanit" pitchFamily="34" charset="0"/>
                <a:ea typeface="Kanit" pitchFamily="34" charset="-122"/>
                <a:cs typeface="Kanit" pitchFamily="34" charset="-120"/>
              </a:rPr>
              <a:t>แจ้งเตือนหลัง commit</a:t>
            </a:r>
            <a:endParaRPr lang="en-US" sz="1700" dirty="0"/>
          </a:p>
        </p:txBody>
      </p:sp>
      <p:sp>
        <p:nvSpPr>
          <p:cNvPr id="19" name="Text 17"/>
          <p:cNvSpPr/>
          <p:nvPr/>
        </p:nvSpPr>
        <p:spPr>
          <a:xfrm>
            <a:off x="6356350" y="4224933"/>
            <a:ext cx="4983861"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Thai" pitchFamily="34" charset="0"/>
                <a:ea typeface="IBM Plex Sans Thai" pitchFamily="34" charset="-122"/>
                <a:cs typeface="IBM Plex Sans Thai" pitchFamily="34" charset="-120"/>
              </a:rPr>
              <a:t>publish event แล้ว listener ส่งผ่าน NotificationSender เพิ่มอีเมลได้โดยไม่แก้ของเดิม</a:t>
            </a:r>
            <a:endParaRPr lang="en-US" sz="1300" dirty="0"/>
          </a:p>
        </p:txBody>
      </p:sp>
      <p:sp>
        <p:nvSpPr>
          <p:cNvPr id="20" name="Text 18"/>
          <p:cNvSpPr/>
          <p:nvPr/>
        </p:nvSpPr>
        <p:spPr>
          <a:xfrm>
            <a:off x="812800" y="5125244"/>
            <a:ext cx="1088339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Thai" pitchFamily="34" charset="0"/>
                <a:ea typeface="IBM Plex Sans Thai" pitchFamily="34" charset="-122"/>
                <a:cs typeface="IBM Plex Sans Thai" pitchFamily="34" charset="-120"/>
              </a:rPr>
              <a:t>Enterprise: Repository · Service Layer · DTO + Mapper · Specification · Dependency Injection · Template Method</a:t>
            </a:r>
            <a:endParaRPr lang="en-US" sz="13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ผู้นำเสนอ: เจ้าของ pattern คนละ 15 วินาที · 4 / 9 · Design and Architecture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1F6"/>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E14"/>
                </a:solidFill>
                <a:latin typeface="IBM Plex Sans Thai" pitchFamily="34" charset="0"/>
                <a:ea typeface="IBM Plex Sans Thai" pitchFamily="34" charset="-122"/>
                <a:cs typeface="IBM Plex Sans Thai" pitchFamily="34" charset="-120"/>
              </a:rPr>
              <a:t>Class Diagram + SOLID</a:t>
            </a:r>
            <a:endParaRPr lang="en-US" sz="1400" dirty="0"/>
          </a:p>
        </p:txBody>
      </p:sp>
      <p:sp>
        <p:nvSpPr>
          <p:cNvPr id="3" name="Text 1"/>
          <p:cNvSpPr>
            <a:spLocks noGrp="1"/>
          </p:cNvSpPr>
          <p:nvPr>
            <p:ph type="title"/>
          </p:nvPr>
        </p:nvSpPr>
        <p:spPr>
          <a:xfrm>
            <a:off x="812800" y="909241"/>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Kanit" pitchFamily="34" charset="0"/>
                <a:ea typeface="Kanit" pitchFamily="34" charset="-122"/>
                <a:cs typeface="Kanit" pitchFamily="34" charset="-120"/>
              </a:rPr>
              <a:t>โมดูลการจอง: Controller → Service → Repository</a:t>
            </a:r>
            <a:endParaRPr lang="en-US" sz="2800" dirty="0"/>
          </a:p>
        </p:txBody>
      </p:sp>
      <p:sp>
        <p:nvSpPr>
          <p:cNvPr id="4" name="Shape 2"/>
          <p:cNvSpPr/>
          <p:nvPr/>
        </p:nvSpPr>
        <p:spPr>
          <a:xfrm>
            <a:off x="812800" y="1470521"/>
            <a:ext cx="6629400" cy="4191000"/>
          </a:xfrm>
          <a:prstGeom prst="roundRect">
            <a:avLst>
              <a:gd name="adj" fmla="val 2424"/>
            </a:avLst>
          </a:prstGeom>
          <a:solidFill>
            <a:srgbClr val="FFFFFF"/>
          </a:solidFill>
          <a:ln/>
        </p:spPr>
      </p:sp>
      <p:pic>
        <p:nvPicPr>
          <p:cNvPr id="5" name="Image 0" descr="Class Diagram ของโมดูลการจอง: BookingController เรียก BookingService interface, BookingServiceImpl พึ่ง BookingRepository, BookingMapper, BookingValidationChain และ RoomQueryService"/>
          <p:cNvPicPr>
            <a:picLocks noChangeAspect="1"/>
          </p:cNvPicPr>
          <p:nvPr/>
        </p:nvPicPr>
        <p:blipFill>
          <a:blip r:embed="rId3"/>
          <a:srcRect l="-35" r="-35"/>
          <a:stretch/>
        </p:blipFill>
        <p:spPr>
          <a:xfrm>
            <a:off x="819150" y="1476871"/>
            <a:ext cx="6616700" cy="4178300"/>
          </a:xfrm>
          <a:prstGeom prst="roundRect">
            <a:avLst>
              <a:gd name="adj" fmla="val 2280"/>
            </a:avLst>
          </a:prstGeom>
        </p:spPr>
      </p:pic>
      <p:sp>
        <p:nvSpPr>
          <p:cNvPr id="6" name="Shape 3"/>
          <p:cNvSpPr/>
          <p:nvPr/>
        </p:nvSpPr>
        <p:spPr>
          <a:xfrm>
            <a:off x="815975" y="1473696"/>
            <a:ext cx="6623050" cy="4184650"/>
          </a:xfrm>
          <a:prstGeom prst="roundRect">
            <a:avLst>
              <a:gd name="adj" fmla="val 2352"/>
            </a:avLst>
          </a:prstGeom>
          <a:noFill/>
          <a:ln w="6350">
            <a:solidFill>
              <a:srgbClr val="DCDDE3"/>
            </a:solidFill>
            <a:prstDash val="solid"/>
          </a:ln>
        </p:spPr>
      </p:sp>
      <p:sp>
        <p:nvSpPr>
          <p:cNvPr id="7" name="Text 4"/>
          <p:cNvSpPr/>
          <p:nvPr/>
        </p:nvSpPr>
        <p:spPr>
          <a:xfrm>
            <a:off x="7620000" y="1470521"/>
            <a:ext cx="3759200" cy="426045"/>
          </a:xfrm>
          <a:prstGeom prst="roundRect">
            <a:avLst>
              <a:gd name="adj" fmla="val 17885"/>
            </a:avLst>
          </a:prstGeom>
          <a:solidFill>
            <a:srgbClr val="FFFFFF"/>
          </a:solidFill>
          <a:ln/>
        </p:spPr>
        <p:txBody>
          <a:bodyPr wrap="square" lIns="104682" tIns="79282" rIns="0" bIns="53882" rtlCol="0" anchor="t">
            <a:normAutofit/>
          </a:bodyPr>
          <a:lstStyle/>
          <a:p>
            <a:pPr marL="0" indent="0" algn="l">
              <a:lnSpc>
                <a:spcPts val="1755"/>
              </a:lnSpc>
              <a:buNone/>
            </a:pPr>
            <a:r>
              <a:rPr lang="en-US" sz="1300" b="1" dirty="0">
                <a:solidFill>
                  <a:srgbClr val="14213D"/>
                </a:solidFill>
                <a:latin typeface="IBM Plex Sans Thai" pitchFamily="34" charset="0"/>
                <a:ea typeface="IBM Plex Sans Thai" pitchFamily="34" charset="-122"/>
                <a:cs typeface="IBM Plex Sans Thai" pitchFamily="34" charset="-120"/>
              </a:rPr>
              <a:t>S</a:t>
            </a:r>
            <a:r>
              <a:rPr lang="en-US" sz="1300" dirty="0">
                <a:solidFill>
                  <a:srgbClr val="14213D"/>
                </a:solidFill>
                <a:latin typeface="IBM Plex Sans Thai" pitchFamily="34" charset="0"/>
                <a:ea typeface="IBM Plex Sans Thai" pitchFamily="34" charset="-122"/>
                <a:cs typeface="IBM Plex Sans Thai" pitchFamily="34" charset="-120"/>
              </a:rPr>
              <a:t> Controller ไม่มีกฎธุรกิจ, Mapper แยก</a:t>
            </a:r>
            <a:endParaRPr lang="en-US" sz="1300" dirty="0"/>
          </a:p>
        </p:txBody>
      </p:sp>
      <p:sp>
        <p:nvSpPr>
          <p:cNvPr id="8" name="Text 5"/>
          <p:cNvSpPr/>
          <p:nvPr/>
        </p:nvSpPr>
        <p:spPr>
          <a:xfrm>
            <a:off x="7620000" y="1972766"/>
            <a:ext cx="3759200" cy="426045"/>
          </a:xfrm>
          <a:prstGeom prst="roundRect">
            <a:avLst>
              <a:gd name="adj" fmla="val 17885"/>
            </a:avLst>
          </a:prstGeom>
          <a:solidFill>
            <a:srgbClr val="FFFFFF"/>
          </a:solidFill>
          <a:ln/>
        </p:spPr>
        <p:txBody>
          <a:bodyPr wrap="square" lIns="104682" tIns="79282" rIns="0" bIns="53882" rtlCol="0" anchor="t">
            <a:normAutofit/>
          </a:bodyPr>
          <a:lstStyle/>
          <a:p>
            <a:pPr marL="0" indent="0" algn="l">
              <a:lnSpc>
                <a:spcPts val="1755"/>
              </a:lnSpc>
              <a:buNone/>
            </a:pPr>
            <a:r>
              <a:rPr lang="en-US" sz="1300" b="1" dirty="0">
                <a:solidFill>
                  <a:srgbClr val="14213D"/>
                </a:solidFill>
                <a:latin typeface="IBM Plex Sans Thai" pitchFamily="34" charset="0"/>
                <a:ea typeface="IBM Plex Sans Thai" pitchFamily="34" charset="-122"/>
                <a:cs typeface="IBM Plex Sans Thai" pitchFamily="34" charset="-120"/>
              </a:rPr>
              <a:t>O</a:t>
            </a:r>
            <a:r>
              <a:rPr lang="en-US" sz="1300" dirty="0">
                <a:solidFill>
                  <a:srgbClr val="14213D"/>
                </a:solidFill>
                <a:latin typeface="IBM Plex Sans Thai" pitchFamily="34" charset="0"/>
                <a:ea typeface="IBM Plex Sans Thai" pitchFamily="34" charset="-122"/>
                <a:cs typeface="IBM Plex Sans Thai" pitchFamily="34" charset="-120"/>
              </a:rPr>
              <a:t> เพิ่มกฎ = เพิ่ม handler</a:t>
            </a:r>
            <a:endParaRPr lang="en-US" sz="1300" dirty="0"/>
          </a:p>
        </p:txBody>
      </p:sp>
      <p:sp>
        <p:nvSpPr>
          <p:cNvPr id="9" name="Text 6"/>
          <p:cNvSpPr/>
          <p:nvPr/>
        </p:nvSpPr>
        <p:spPr>
          <a:xfrm>
            <a:off x="7620000" y="2475012"/>
            <a:ext cx="3759200" cy="426045"/>
          </a:xfrm>
          <a:prstGeom prst="roundRect">
            <a:avLst>
              <a:gd name="adj" fmla="val 17885"/>
            </a:avLst>
          </a:prstGeom>
          <a:solidFill>
            <a:srgbClr val="FFFFFF"/>
          </a:solidFill>
          <a:ln/>
        </p:spPr>
        <p:txBody>
          <a:bodyPr wrap="square" lIns="104682" tIns="79282" rIns="0" bIns="53882" rtlCol="0" anchor="t">
            <a:normAutofit/>
          </a:bodyPr>
          <a:lstStyle/>
          <a:p>
            <a:pPr marL="0" indent="0" algn="l">
              <a:lnSpc>
                <a:spcPts val="1755"/>
              </a:lnSpc>
              <a:buNone/>
            </a:pPr>
            <a:r>
              <a:rPr lang="en-US" sz="1300" b="1" dirty="0">
                <a:solidFill>
                  <a:srgbClr val="14213D"/>
                </a:solidFill>
                <a:latin typeface="IBM Plex Sans Thai" pitchFamily="34" charset="0"/>
                <a:ea typeface="IBM Plex Sans Thai" pitchFamily="34" charset="-122"/>
                <a:cs typeface="IBM Plex Sans Thai" pitchFamily="34" charset="-120"/>
              </a:rPr>
              <a:t>L</a:t>
            </a:r>
            <a:r>
              <a:rPr lang="en-US" sz="1300" dirty="0">
                <a:solidFill>
                  <a:srgbClr val="14213D"/>
                </a:solidFill>
                <a:latin typeface="IBM Plex Sans Thai" pitchFamily="34" charset="0"/>
                <a:ea typeface="IBM Plex Sans Thai" pitchFamily="34" charset="-122"/>
                <a:cs typeface="IBM Plex Sans Thai" pitchFamily="34" charset="-120"/>
              </a:rPr>
              <a:t> ทุก policy / state แทนกันได้</a:t>
            </a:r>
            <a:endParaRPr lang="en-US" sz="1300" dirty="0"/>
          </a:p>
        </p:txBody>
      </p:sp>
      <p:sp>
        <p:nvSpPr>
          <p:cNvPr id="10" name="Text 7"/>
          <p:cNvSpPr/>
          <p:nvPr/>
        </p:nvSpPr>
        <p:spPr>
          <a:xfrm>
            <a:off x="7620000" y="2977257"/>
            <a:ext cx="3759200" cy="426045"/>
          </a:xfrm>
          <a:prstGeom prst="roundRect">
            <a:avLst>
              <a:gd name="adj" fmla="val 17885"/>
            </a:avLst>
          </a:prstGeom>
          <a:solidFill>
            <a:srgbClr val="FFFFFF"/>
          </a:solidFill>
          <a:ln/>
        </p:spPr>
        <p:txBody>
          <a:bodyPr wrap="square" lIns="104682" tIns="79282" rIns="0" bIns="53882" rtlCol="0" anchor="t">
            <a:normAutofit/>
          </a:bodyPr>
          <a:lstStyle/>
          <a:p>
            <a:pPr marL="0" indent="0" algn="l">
              <a:lnSpc>
                <a:spcPts val="1755"/>
              </a:lnSpc>
              <a:buNone/>
            </a:pPr>
            <a:r>
              <a:rPr lang="en-US" sz="1300" b="1" dirty="0">
                <a:solidFill>
                  <a:srgbClr val="14213D"/>
                </a:solidFill>
                <a:latin typeface="IBM Plex Sans Thai" pitchFamily="34" charset="0"/>
                <a:ea typeface="IBM Plex Sans Thai" pitchFamily="34" charset="-122"/>
                <a:cs typeface="IBM Plex Sans Thai" pitchFamily="34" charset="-120"/>
              </a:rPr>
              <a:t>I</a:t>
            </a:r>
            <a:r>
              <a:rPr lang="en-US" sz="1300" dirty="0">
                <a:solidFill>
                  <a:srgbClr val="14213D"/>
                </a:solidFill>
                <a:latin typeface="IBM Plex Sans Thai" pitchFamily="34" charset="0"/>
                <a:ea typeface="IBM Plex Sans Thai" pitchFamily="34" charset="-122"/>
                <a:cs typeface="IBM Plex Sans Thai" pitchFamily="34" charset="-120"/>
              </a:rPr>
              <a:t> RoomQueryService มี 3 method</a:t>
            </a:r>
            <a:endParaRPr lang="en-US" sz="1300" dirty="0"/>
          </a:p>
        </p:txBody>
      </p:sp>
      <p:sp>
        <p:nvSpPr>
          <p:cNvPr id="11" name="Text 8"/>
          <p:cNvSpPr/>
          <p:nvPr/>
        </p:nvSpPr>
        <p:spPr>
          <a:xfrm>
            <a:off x="7620000" y="3479502"/>
            <a:ext cx="3759200" cy="648891"/>
          </a:xfrm>
          <a:prstGeom prst="roundRect">
            <a:avLst>
              <a:gd name="adj" fmla="val 11743"/>
            </a:avLst>
          </a:prstGeom>
          <a:solidFill>
            <a:srgbClr val="FFFFFF"/>
          </a:solidFill>
          <a:ln/>
        </p:spPr>
        <p:txBody>
          <a:bodyPr wrap="square" lIns="104682" tIns="79282" rIns="0" bIns="53882" rtlCol="0" anchor="t">
            <a:normAutofit/>
          </a:bodyPr>
          <a:lstStyle/>
          <a:p>
            <a:pPr marL="0" indent="0" algn="l">
              <a:lnSpc>
                <a:spcPts val="1755"/>
              </a:lnSpc>
              <a:buNone/>
            </a:pPr>
            <a:r>
              <a:rPr lang="en-US" sz="1300" b="1" dirty="0">
                <a:solidFill>
                  <a:srgbClr val="14213D"/>
                </a:solidFill>
                <a:latin typeface="IBM Plex Sans Thai" pitchFamily="34" charset="0"/>
                <a:ea typeface="IBM Plex Sans Thai" pitchFamily="34" charset="-122"/>
                <a:cs typeface="IBM Plex Sans Thai" pitchFamily="34" charset="-120"/>
              </a:rPr>
              <a:t>D</a:t>
            </a:r>
            <a:r>
              <a:rPr lang="en-US" sz="1300" dirty="0">
                <a:solidFill>
                  <a:srgbClr val="14213D"/>
                </a:solidFill>
                <a:latin typeface="IBM Plex Sans Thai" pitchFamily="34" charset="0"/>
                <a:ea typeface="IBM Plex Sans Thai" pitchFamily="34" charset="-122"/>
                <a:cs typeface="IBM Plex Sans Thai" pitchFamily="34" charset="-120"/>
              </a:rPr>
              <a:t> พึ่ง interface, constructor injection, inject Clock</a:t>
            </a:r>
            <a:endParaRPr lang="en-US" sz="13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ผู้นำเสนอ: อนัตตา · 5 / 9 · Design and Architecture · หลักฐานไฟล์ + บรรทัดใน doc/solid-analysis.md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E14"/>
                </a:solidFill>
                <a:latin typeface="IBM Plex Sans Thai" pitchFamily="34" charset="0"/>
                <a:ea typeface="IBM Plex Sans Thai" pitchFamily="34" charset="-122"/>
                <a:cs typeface="IBM Plex Sans Thai" pitchFamily="34" charset="-120"/>
              </a:rPr>
              <a:t>ER Diagram</a:t>
            </a:r>
            <a:endParaRPr lang="en-US" sz="1400" dirty="0"/>
          </a:p>
        </p:txBody>
      </p:sp>
      <p:sp>
        <p:nvSpPr>
          <p:cNvPr id="3" name="Text 1"/>
          <p:cNvSpPr>
            <a:spLocks noGrp="1"/>
          </p:cNvSpPr>
          <p:nvPr>
            <p:ph type="title"/>
          </p:nvPr>
        </p:nvSpPr>
        <p:spPr>
          <a:xfrm>
            <a:off x="812800" y="909241"/>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Kanit" pitchFamily="34" charset="0"/>
                <a:ea typeface="Kanit" pitchFamily="34" charset="-122"/>
                <a:cs typeface="Kanit" pitchFamily="34" charset="-120"/>
              </a:rPr>
              <a:t>10 ตาราง จาก Flyway migration V1–V5</a:t>
            </a:r>
            <a:endParaRPr lang="en-US" sz="2800" dirty="0"/>
          </a:p>
        </p:txBody>
      </p:sp>
      <p:sp>
        <p:nvSpPr>
          <p:cNvPr id="4" name="Shape 2"/>
          <p:cNvSpPr/>
          <p:nvPr/>
        </p:nvSpPr>
        <p:spPr>
          <a:xfrm>
            <a:off x="812800" y="1470521"/>
            <a:ext cx="6832600" cy="4191000"/>
          </a:xfrm>
          <a:prstGeom prst="roundRect">
            <a:avLst>
              <a:gd name="adj" fmla="val 2424"/>
            </a:avLst>
          </a:prstGeom>
          <a:solidFill>
            <a:srgbClr val="FFFFFF"/>
          </a:solidFill>
          <a:ln/>
        </p:spPr>
      </p:sp>
      <p:pic>
        <p:nvPicPr>
          <p:cNvPr id="5" name="Image 0" descr="ER Diagram 10 ตาราง: users, user_profiles, rooms, room_types, equipment, room_equipment, room_closures, bookings, booking_status_history และ notifications"/>
          <p:cNvPicPr>
            <a:picLocks noChangeAspect="1"/>
          </p:cNvPicPr>
          <p:nvPr/>
        </p:nvPicPr>
        <p:blipFill>
          <a:blip r:embed="rId3"/>
          <a:srcRect l="-34" r="-34"/>
          <a:stretch/>
        </p:blipFill>
        <p:spPr>
          <a:xfrm>
            <a:off x="819150" y="1476871"/>
            <a:ext cx="6819900" cy="4178300"/>
          </a:xfrm>
          <a:prstGeom prst="roundRect">
            <a:avLst>
              <a:gd name="adj" fmla="val 2280"/>
            </a:avLst>
          </a:prstGeom>
        </p:spPr>
      </p:pic>
      <p:sp>
        <p:nvSpPr>
          <p:cNvPr id="6" name="Shape 3"/>
          <p:cNvSpPr/>
          <p:nvPr/>
        </p:nvSpPr>
        <p:spPr>
          <a:xfrm>
            <a:off x="815975" y="1473696"/>
            <a:ext cx="6826250" cy="4184650"/>
          </a:xfrm>
          <a:prstGeom prst="roundRect">
            <a:avLst>
              <a:gd name="adj" fmla="val 2352"/>
            </a:avLst>
          </a:prstGeom>
          <a:noFill/>
          <a:ln w="6350">
            <a:solidFill>
              <a:srgbClr val="DCDDE3"/>
            </a:solidFill>
            <a:prstDash val="solid"/>
          </a:ln>
        </p:spPr>
      </p:sp>
      <p:sp>
        <p:nvSpPr>
          <p:cNvPr id="7" name="Text 4"/>
          <p:cNvSpPr/>
          <p:nvPr/>
        </p:nvSpPr>
        <p:spPr>
          <a:xfrm>
            <a:off x="7823200" y="1470521"/>
            <a:ext cx="3556000" cy="426045"/>
          </a:xfrm>
          <a:prstGeom prst="roundRect">
            <a:avLst>
              <a:gd name="adj" fmla="val 17885"/>
            </a:avLst>
          </a:prstGeom>
          <a:solidFill>
            <a:srgbClr val="FFFFFF"/>
          </a:solidFill>
          <a:ln/>
        </p:spPr>
        <p:txBody>
          <a:bodyPr wrap="square" lIns="104682" tIns="79282" rIns="5622" bIns="53882" rtlCol="0" anchor="t">
            <a:normAutofit/>
          </a:bodyPr>
          <a:lstStyle/>
          <a:p>
            <a:pPr marL="0" indent="0" algn="l">
              <a:lnSpc>
                <a:spcPts val="1755"/>
              </a:lnSpc>
              <a:buNone/>
            </a:pPr>
            <a:r>
              <a:rPr lang="en-US" sz="1300" b="1" dirty="0">
                <a:solidFill>
                  <a:srgbClr val="14213D"/>
                </a:solidFill>
                <a:latin typeface="IBM Plex Sans Thai" pitchFamily="34" charset="0"/>
                <a:ea typeface="IBM Plex Sans Thai" pitchFamily="34" charset="-122"/>
                <a:cs typeface="IBM Plex Sans Thai" pitchFamily="34" charset="-120"/>
              </a:rPr>
              <a:t>1:1</a:t>
            </a:r>
            <a:r>
              <a:rPr lang="en-US" sz="1300" dirty="0">
                <a:solidFill>
                  <a:srgbClr val="14213D"/>
                </a:solidFill>
                <a:latin typeface="IBM Plex Sans Thai" pitchFamily="34" charset="0"/>
                <a:ea typeface="IBM Plex Sans Thai" pitchFamily="34" charset="-122"/>
                <a:cs typeface="IBM Plex Sans Thai" pitchFamily="34" charset="-120"/>
              </a:rPr>
              <a:t> users – user_profiles</a:t>
            </a:r>
            <a:endParaRPr lang="en-US" sz="1300" dirty="0"/>
          </a:p>
        </p:txBody>
      </p:sp>
      <p:sp>
        <p:nvSpPr>
          <p:cNvPr id="8" name="Text 5"/>
          <p:cNvSpPr/>
          <p:nvPr/>
        </p:nvSpPr>
        <p:spPr>
          <a:xfrm>
            <a:off x="7823200" y="1972766"/>
            <a:ext cx="3556000" cy="426045"/>
          </a:xfrm>
          <a:prstGeom prst="roundRect">
            <a:avLst>
              <a:gd name="adj" fmla="val 17885"/>
            </a:avLst>
          </a:prstGeom>
          <a:solidFill>
            <a:srgbClr val="FFFFFF"/>
          </a:solidFill>
          <a:ln/>
        </p:spPr>
        <p:txBody>
          <a:bodyPr wrap="square" lIns="104682" tIns="79282" rIns="5622" bIns="53882" rtlCol="0" anchor="t">
            <a:normAutofit/>
          </a:bodyPr>
          <a:lstStyle/>
          <a:p>
            <a:pPr marL="0" indent="0" algn="l">
              <a:lnSpc>
                <a:spcPts val="1755"/>
              </a:lnSpc>
              <a:buNone/>
            </a:pPr>
            <a:r>
              <a:rPr lang="en-US" sz="1300" b="1" dirty="0">
                <a:solidFill>
                  <a:srgbClr val="14213D"/>
                </a:solidFill>
                <a:latin typeface="IBM Plex Sans Thai" pitchFamily="34" charset="0"/>
                <a:ea typeface="IBM Plex Sans Thai" pitchFamily="34" charset="-122"/>
                <a:cs typeface="IBM Plex Sans Thai" pitchFamily="34" charset="-120"/>
              </a:rPr>
              <a:t>1:N</a:t>
            </a:r>
            <a:r>
              <a:rPr lang="en-US" sz="1300" dirty="0">
                <a:solidFill>
                  <a:srgbClr val="14213D"/>
                </a:solidFill>
                <a:latin typeface="IBM Plex Sans Thai" pitchFamily="34" charset="0"/>
                <a:ea typeface="IBM Plex Sans Thai" pitchFamily="34" charset="-122"/>
                <a:cs typeface="IBM Plex Sans Thai" pitchFamily="34" charset="-120"/>
              </a:rPr>
              <a:t> rooms – bookings, users – bookings</a:t>
            </a:r>
            <a:endParaRPr lang="en-US" sz="1300" dirty="0"/>
          </a:p>
        </p:txBody>
      </p:sp>
      <p:sp>
        <p:nvSpPr>
          <p:cNvPr id="9" name="Text 6"/>
          <p:cNvSpPr/>
          <p:nvPr/>
        </p:nvSpPr>
        <p:spPr>
          <a:xfrm>
            <a:off x="7823200" y="2475012"/>
            <a:ext cx="3556000" cy="648891"/>
          </a:xfrm>
          <a:prstGeom prst="roundRect">
            <a:avLst>
              <a:gd name="adj" fmla="val 11743"/>
            </a:avLst>
          </a:prstGeom>
          <a:solidFill>
            <a:srgbClr val="FBE3CF"/>
          </a:solidFill>
          <a:ln/>
        </p:spPr>
        <p:txBody>
          <a:bodyPr wrap="square" lIns="104682" tIns="79282" rIns="5622" bIns="53882" rtlCol="0" anchor="t">
            <a:normAutofit/>
          </a:bodyPr>
          <a:lstStyle/>
          <a:p>
            <a:pPr marL="0" indent="0" algn="l">
              <a:lnSpc>
                <a:spcPts val="1755"/>
              </a:lnSpc>
              <a:buNone/>
            </a:pPr>
            <a:r>
              <a:rPr lang="en-US" sz="1300" b="1" dirty="0">
                <a:solidFill>
                  <a:srgbClr val="14213D"/>
                </a:solidFill>
                <a:latin typeface="IBM Plex Sans Thai" pitchFamily="34" charset="0"/>
                <a:ea typeface="IBM Plex Sans Thai" pitchFamily="34" charset="-122"/>
                <a:cs typeface="IBM Plex Sans Thai" pitchFamily="34" charset="-120"/>
              </a:rPr>
              <a:t>N:M</a:t>
            </a:r>
            <a:r>
              <a:rPr lang="en-US" sz="1300" dirty="0">
                <a:solidFill>
                  <a:srgbClr val="14213D"/>
                </a:solidFill>
                <a:latin typeface="IBM Plex Sans Thai" pitchFamily="34" charset="0"/>
                <a:ea typeface="IBM Plex Sans Thai" pitchFamily="34" charset="-122"/>
                <a:cs typeface="IBM Plex Sans Thai" pitchFamily="34" charset="-120"/>
              </a:rPr>
              <a:t> rooms ↔ equipment ผ่าน room_equipment พร้อม quantity</a:t>
            </a:r>
            <a:endParaRPr lang="en-US" sz="1300" dirty="0"/>
          </a:p>
        </p:txBody>
      </p:sp>
      <p:sp>
        <p:nvSpPr>
          <p:cNvPr id="10" name="Text 7"/>
          <p:cNvSpPr/>
          <p:nvPr/>
        </p:nvSpPr>
        <p:spPr>
          <a:xfrm>
            <a:off x="7823200" y="3200102"/>
            <a:ext cx="3556000" cy="426045"/>
          </a:xfrm>
          <a:prstGeom prst="roundRect">
            <a:avLst>
              <a:gd name="adj" fmla="val 17885"/>
            </a:avLst>
          </a:prstGeom>
          <a:solidFill>
            <a:srgbClr val="FFFFFF"/>
          </a:solidFill>
          <a:ln/>
        </p:spPr>
        <p:txBody>
          <a:bodyPr wrap="square" lIns="104682" tIns="79282" rIns="5622" bIns="53882" rtlCol="0" anchor="t">
            <a:normAutofit/>
          </a:bodyPr>
          <a:lstStyle/>
          <a:p>
            <a:pPr marL="0" indent="0" algn="l">
              <a:lnSpc>
                <a:spcPts val="1755"/>
              </a:lnSpc>
              <a:buNone/>
            </a:pPr>
            <a:r>
              <a:rPr lang="en-US" sz="1300" dirty="0">
                <a:solidFill>
                  <a:srgbClr val="14213D"/>
                </a:solidFill>
                <a:latin typeface="IBM Plex Sans Thai" pitchFamily="34" charset="0"/>
                <a:ea typeface="IBM Plex Sans Thai" pitchFamily="34" charset="-122"/>
                <a:cs typeface="IBM Plex Sans Thai" pitchFamily="34" charset="-120"/>
              </a:rPr>
              <a:t>CHECK, UNIQUE, index (room_id, start, end)</a:t>
            </a:r>
            <a:endParaRPr lang="en-US" sz="1300" dirty="0"/>
          </a:p>
        </p:txBody>
      </p:sp>
      <p:sp>
        <p:nvSpPr>
          <p:cNvPr id="11" name="Text 8"/>
          <p:cNvSpPr/>
          <p:nvPr/>
        </p:nvSpPr>
        <p:spPr>
          <a:xfrm>
            <a:off x="7823200" y="3702348"/>
            <a:ext cx="3556000" cy="426045"/>
          </a:xfrm>
          <a:prstGeom prst="roundRect">
            <a:avLst>
              <a:gd name="adj" fmla="val 17885"/>
            </a:avLst>
          </a:prstGeom>
          <a:solidFill>
            <a:srgbClr val="FFFFFF"/>
          </a:solidFill>
          <a:ln/>
        </p:spPr>
        <p:txBody>
          <a:bodyPr wrap="square" lIns="104682" tIns="79282" rIns="5622" bIns="53882" rtlCol="0" anchor="t">
            <a:normAutofit/>
          </a:bodyPr>
          <a:lstStyle/>
          <a:p>
            <a:pPr marL="0" indent="0" algn="l">
              <a:lnSpc>
                <a:spcPts val="1755"/>
              </a:lnSpc>
              <a:buNone/>
            </a:pPr>
            <a:r>
              <a:rPr lang="en-US" sz="1300" dirty="0">
                <a:solidFill>
                  <a:srgbClr val="14213D"/>
                </a:solidFill>
                <a:latin typeface="IBM Plex Sans Thai" pitchFamily="34" charset="0"/>
                <a:ea typeface="IBM Plex Sans Thai" pitchFamily="34" charset="-122"/>
                <a:cs typeface="IBM Plex Sans Thai" pitchFamily="34" charset="-120"/>
              </a:rPr>
              <a:t>ddl-auto=validate</a:t>
            </a:r>
            <a:endParaRPr lang="en-US" sz="13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ผู้นำเสนอ: กฤษฎา · 6 / 9 · Design and Architecture · Data Dictionary ใน doc/diagrams/er-diagram.md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2A65A"/>
                </a:solidFill>
                <a:latin typeface="IBM Plex Sans Thai" pitchFamily="34" charset="0"/>
                <a:ea typeface="IBM Plex Sans Thai" pitchFamily="34" charset="-122"/>
                <a:cs typeface="IBM Plex Sans Thai" pitchFamily="34" charset="-120"/>
              </a:rPr>
              <a:t>Live Demo · 3:30 นาที · sc09-room-booking.vercel.app</a:t>
            </a:r>
            <a:endParaRPr lang="en-US" sz="1400" dirty="0"/>
          </a:p>
        </p:txBody>
      </p:sp>
      <p:sp>
        <p:nvSpPr>
          <p:cNvPr id="3" name="Text 1"/>
          <p:cNvSpPr>
            <a:spLocks noGrp="1"/>
          </p:cNvSpPr>
          <p:nvPr>
            <p:ph type="title"/>
          </p:nvPr>
        </p:nvSpPr>
        <p:spPr>
          <a:xfrm>
            <a:off x="812800" y="1137841"/>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F7F5EF"/>
                </a:solidFill>
                <a:latin typeface="Kanit" pitchFamily="34" charset="0"/>
                <a:ea typeface="Kanit" pitchFamily="34" charset="-122"/>
                <a:cs typeface="Kanit" pitchFamily="34" charset="-120"/>
              </a:rPr>
              <a:t>3 use case บนเว็บจริง</a:t>
            </a:r>
            <a:endParaRPr lang="en-US" sz="3200" dirty="0"/>
          </a:p>
        </p:txBody>
      </p:sp>
      <p:sp>
        <p:nvSpPr>
          <p:cNvPr id="4" name="Shape 2"/>
          <p:cNvSpPr/>
          <p:nvPr/>
        </p:nvSpPr>
        <p:spPr>
          <a:xfrm>
            <a:off x="812800" y="1859161"/>
            <a:ext cx="3403600" cy="1925141"/>
          </a:xfrm>
          <a:prstGeom prst="roundRect">
            <a:avLst>
              <a:gd name="adj" fmla="val 5278"/>
            </a:avLst>
          </a:prstGeom>
          <a:solidFill>
            <a:srgbClr val="24345A"/>
          </a:solidFill>
          <a:ln/>
        </p:spPr>
      </p:sp>
      <p:sp>
        <p:nvSpPr>
          <p:cNvPr id="5" name="Text 3"/>
          <p:cNvSpPr/>
          <p:nvPr/>
        </p:nvSpPr>
        <p:spPr>
          <a:xfrm>
            <a:off x="1016000" y="2062361"/>
            <a:ext cx="3087116"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F2A65A"/>
                </a:solidFill>
                <a:latin typeface="Kanit" pitchFamily="34" charset="0"/>
                <a:ea typeface="Kanit" pitchFamily="34" charset="-122"/>
                <a:cs typeface="Kanit" pitchFamily="34" charset="-120"/>
              </a:rPr>
              <a:t>1</a:t>
            </a:r>
            <a:endParaRPr lang="en-US" sz="2800" dirty="0"/>
          </a:p>
        </p:txBody>
      </p:sp>
      <p:sp>
        <p:nvSpPr>
          <p:cNvPr id="6" name="Text 4"/>
          <p:cNvSpPr/>
          <p:nvPr/>
        </p:nvSpPr>
        <p:spPr>
          <a:xfrm>
            <a:off x="1016000" y="2494161"/>
            <a:ext cx="3087116" cy="284460"/>
          </a:xfrm>
          <a:prstGeom prst="rect">
            <a:avLst/>
          </a:prstGeom>
          <a:noFill/>
          <a:ln/>
        </p:spPr>
        <p:txBody>
          <a:bodyPr wrap="square" lIns="0" tIns="0" rIns="0" bIns="0" rtlCol="0" anchor="t">
            <a:normAutofit/>
          </a:bodyPr>
          <a:lstStyle/>
          <a:p>
            <a:pPr marL="0" indent="0" algn="l">
              <a:lnSpc>
                <a:spcPts val="2040"/>
              </a:lnSpc>
              <a:buNone/>
            </a:pPr>
            <a:r>
              <a:rPr lang="en-US" sz="1700" dirty="0">
                <a:solidFill>
                  <a:srgbClr val="F7F5EF"/>
                </a:solidFill>
                <a:latin typeface="Kanit" pitchFamily="34" charset="0"/>
                <a:ea typeface="Kanit" pitchFamily="34" charset="-122"/>
                <a:cs typeface="Kanit" pitchFamily="34" charset="-120"/>
              </a:rPr>
              <a:t>นักศึกษาค้นหาห้องว่างและจอง</a:t>
            </a:r>
            <a:endParaRPr lang="en-US" sz="1700" dirty="0"/>
          </a:p>
        </p:txBody>
      </p:sp>
      <p:sp>
        <p:nvSpPr>
          <p:cNvPr id="7" name="Text 5"/>
          <p:cNvSpPr/>
          <p:nvPr/>
        </p:nvSpPr>
        <p:spPr>
          <a:xfrm>
            <a:off x="1016000" y="2829421"/>
            <a:ext cx="3087116"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3"/>
                </a:solidFill>
                <a:latin typeface="IBM Plex Sans Thai" pitchFamily="34" charset="0"/>
                <a:ea typeface="IBM Plex Sans Thai" pitchFamily="34" charset="-122"/>
                <a:cs typeface="IBM Plex Sans Thai" pitchFamily="34" charset="-120"/>
              </a:rPr>
              <a:t>กรองห้อง → ห้องว่าง → ส่งคำขอ → PENDING · ลองจองชน ได้ 409</a:t>
            </a:r>
            <a:endParaRPr lang="en-US" sz="1300" dirty="0"/>
          </a:p>
        </p:txBody>
      </p:sp>
      <p:sp>
        <p:nvSpPr>
          <p:cNvPr id="8" name="Text 6"/>
          <p:cNvSpPr/>
          <p:nvPr/>
        </p:nvSpPr>
        <p:spPr>
          <a:xfrm>
            <a:off x="1016000" y="3367782"/>
            <a:ext cx="30871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65A"/>
                </a:solidFill>
                <a:latin typeface="IBM Plex Sans Thai" pitchFamily="34" charset="0"/>
                <a:ea typeface="IBM Plex Sans Thai" pitchFamily="34" charset="-122"/>
                <a:cs typeface="IBM Plex Sans Thai" pitchFamily="34" charset="-120"/>
              </a:rPr>
              <a:t>1:30 · UC-04, UC-06</a:t>
            </a:r>
            <a:endParaRPr lang="en-US" sz="1200" dirty="0"/>
          </a:p>
        </p:txBody>
      </p:sp>
      <p:sp>
        <p:nvSpPr>
          <p:cNvPr id="9" name="Shape 7"/>
          <p:cNvSpPr/>
          <p:nvPr/>
        </p:nvSpPr>
        <p:spPr>
          <a:xfrm>
            <a:off x="4394200" y="1859161"/>
            <a:ext cx="3403600" cy="1925141"/>
          </a:xfrm>
          <a:prstGeom prst="roundRect">
            <a:avLst>
              <a:gd name="adj" fmla="val 5278"/>
            </a:avLst>
          </a:prstGeom>
          <a:solidFill>
            <a:srgbClr val="24345A"/>
          </a:solidFill>
          <a:ln/>
        </p:spPr>
      </p:sp>
      <p:sp>
        <p:nvSpPr>
          <p:cNvPr id="10" name="Text 8"/>
          <p:cNvSpPr/>
          <p:nvPr/>
        </p:nvSpPr>
        <p:spPr>
          <a:xfrm>
            <a:off x="4597400" y="2062361"/>
            <a:ext cx="3087116"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F2A65A"/>
                </a:solidFill>
                <a:latin typeface="Kanit" pitchFamily="34" charset="0"/>
                <a:ea typeface="Kanit" pitchFamily="34" charset="-122"/>
                <a:cs typeface="Kanit" pitchFamily="34" charset="-120"/>
              </a:rPr>
              <a:t>2</a:t>
            </a:r>
            <a:endParaRPr lang="en-US" sz="2800" dirty="0"/>
          </a:p>
        </p:txBody>
      </p:sp>
      <p:sp>
        <p:nvSpPr>
          <p:cNvPr id="11" name="Text 9"/>
          <p:cNvSpPr/>
          <p:nvPr/>
        </p:nvSpPr>
        <p:spPr>
          <a:xfrm>
            <a:off x="4597400" y="2494161"/>
            <a:ext cx="3087116" cy="284460"/>
          </a:xfrm>
          <a:prstGeom prst="rect">
            <a:avLst/>
          </a:prstGeom>
          <a:noFill/>
          <a:ln/>
        </p:spPr>
        <p:txBody>
          <a:bodyPr wrap="square" lIns="0" tIns="0" rIns="0" bIns="0" rtlCol="0" anchor="t">
            <a:normAutofit/>
          </a:bodyPr>
          <a:lstStyle/>
          <a:p>
            <a:pPr marL="0" indent="0" algn="l">
              <a:lnSpc>
                <a:spcPts val="2040"/>
              </a:lnSpc>
              <a:buNone/>
            </a:pPr>
            <a:r>
              <a:rPr lang="en-US" sz="1700" dirty="0">
                <a:solidFill>
                  <a:srgbClr val="F7F5EF"/>
                </a:solidFill>
                <a:latin typeface="Kanit" pitchFamily="34" charset="0"/>
                <a:ea typeface="Kanit" pitchFamily="34" charset="-122"/>
                <a:cs typeface="Kanit" pitchFamily="34" charset="-120"/>
              </a:rPr>
              <a:t>เจ้าหน้าที่อนุมัติ</a:t>
            </a:r>
            <a:endParaRPr lang="en-US" sz="1700" dirty="0"/>
          </a:p>
        </p:txBody>
      </p:sp>
      <p:sp>
        <p:nvSpPr>
          <p:cNvPr id="12" name="Text 10"/>
          <p:cNvSpPr/>
          <p:nvPr/>
        </p:nvSpPr>
        <p:spPr>
          <a:xfrm>
            <a:off x="4597400" y="2829421"/>
            <a:ext cx="3087116"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3"/>
                </a:solidFill>
                <a:latin typeface="IBM Plex Sans Thai" pitchFamily="34" charset="0"/>
                <a:ea typeface="IBM Plex Sans Thai" pitchFamily="34" charset="-122"/>
                <a:cs typeface="IBM Plex Sans Thai" pitchFamily="34" charset="-120"/>
              </a:rPr>
              <a:t>กระดิ่งแจ้งเตือน → คิวอนุมัติ → อนุมัติ → นักศึกษาได้แจ้งเตือน + timeline</a:t>
            </a:r>
            <a:endParaRPr lang="en-US" sz="1300" dirty="0"/>
          </a:p>
        </p:txBody>
      </p:sp>
      <p:sp>
        <p:nvSpPr>
          <p:cNvPr id="13" name="Text 11"/>
          <p:cNvSpPr/>
          <p:nvPr/>
        </p:nvSpPr>
        <p:spPr>
          <a:xfrm>
            <a:off x="4597400" y="3367782"/>
            <a:ext cx="30871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65A"/>
                </a:solidFill>
                <a:latin typeface="IBM Plex Sans Thai" pitchFamily="34" charset="0"/>
                <a:ea typeface="IBM Plex Sans Thai" pitchFamily="34" charset="-122"/>
                <a:cs typeface="IBM Plex Sans Thai" pitchFamily="34" charset="-120"/>
              </a:rPr>
              <a:t>1:15 · UC-13, UC-11</a:t>
            </a:r>
            <a:endParaRPr lang="en-US" sz="1200" dirty="0"/>
          </a:p>
        </p:txBody>
      </p:sp>
      <p:sp>
        <p:nvSpPr>
          <p:cNvPr id="14" name="Shape 12"/>
          <p:cNvSpPr/>
          <p:nvPr/>
        </p:nvSpPr>
        <p:spPr>
          <a:xfrm>
            <a:off x="7975600" y="1859161"/>
            <a:ext cx="3403600" cy="1925141"/>
          </a:xfrm>
          <a:prstGeom prst="roundRect">
            <a:avLst>
              <a:gd name="adj" fmla="val 5278"/>
            </a:avLst>
          </a:prstGeom>
          <a:solidFill>
            <a:srgbClr val="24345A"/>
          </a:solidFill>
          <a:ln/>
        </p:spPr>
      </p:sp>
      <p:sp>
        <p:nvSpPr>
          <p:cNvPr id="15" name="Text 13"/>
          <p:cNvSpPr/>
          <p:nvPr/>
        </p:nvSpPr>
        <p:spPr>
          <a:xfrm>
            <a:off x="8178800" y="2062361"/>
            <a:ext cx="3087116"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F2A65A"/>
                </a:solidFill>
                <a:latin typeface="Kanit" pitchFamily="34" charset="0"/>
                <a:ea typeface="Kanit" pitchFamily="34" charset="-122"/>
                <a:cs typeface="Kanit" pitchFamily="34" charset="-120"/>
              </a:rPr>
              <a:t>3</a:t>
            </a:r>
            <a:endParaRPr lang="en-US" sz="2800" dirty="0"/>
          </a:p>
        </p:txBody>
      </p:sp>
      <p:sp>
        <p:nvSpPr>
          <p:cNvPr id="16" name="Text 14"/>
          <p:cNvSpPr/>
          <p:nvPr/>
        </p:nvSpPr>
        <p:spPr>
          <a:xfrm>
            <a:off x="8178800" y="2494161"/>
            <a:ext cx="3087116" cy="284460"/>
          </a:xfrm>
          <a:prstGeom prst="rect">
            <a:avLst/>
          </a:prstGeom>
          <a:noFill/>
          <a:ln/>
        </p:spPr>
        <p:txBody>
          <a:bodyPr wrap="square" lIns="0" tIns="0" rIns="0" bIns="0" rtlCol="0" anchor="t">
            <a:normAutofit/>
          </a:bodyPr>
          <a:lstStyle/>
          <a:p>
            <a:pPr marL="0" indent="0" algn="l">
              <a:lnSpc>
                <a:spcPts val="2040"/>
              </a:lnSpc>
              <a:buNone/>
            </a:pPr>
            <a:r>
              <a:rPr lang="en-US" sz="1700" dirty="0">
                <a:solidFill>
                  <a:srgbClr val="F7F5EF"/>
                </a:solidFill>
                <a:latin typeface="Kanit" pitchFamily="34" charset="0"/>
                <a:ea typeface="Kanit" pitchFamily="34" charset="-122"/>
                <a:cs typeface="Kanit" pitchFamily="34" charset="-120"/>
              </a:rPr>
              <a:t>ตารางการใช้ห้อง</a:t>
            </a:r>
            <a:endParaRPr lang="en-US" sz="1700" dirty="0"/>
          </a:p>
        </p:txBody>
      </p:sp>
      <p:sp>
        <p:nvSpPr>
          <p:cNvPr id="17" name="Text 15"/>
          <p:cNvSpPr/>
          <p:nvPr/>
        </p:nvSpPr>
        <p:spPr>
          <a:xfrm>
            <a:off x="8178800" y="2829421"/>
            <a:ext cx="3087116"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3"/>
                </a:solidFill>
                <a:latin typeface="IBM Plex Sans Thai" pitchFamily="34" charset="0"/>
                <a:ea typeface="IBM Plex Sans Thai" pitchFamily="34" charset="-122"/>
                <a:cs typeface="IBM Plex Sans Thai" pitchFamily="34" charset="-120"/>
              </a:rPr>
              <a:t>ปฏิทินรายเดือน → ตารางห้อง × เวลา เห็นการจองที่เพิ่งอนุมัติ</a:t>
            </a:r>
            <a:endParaRPr lang="en-US" sz="1300" dirty="0"/>
          </a:p>
        </p:txBody>
      </p:sp>
      <p:sp>
        <p:nvSpPr>
          <p:cNvPr id="18" name="Text 16"/>
          <p:cNvSpPr/>
          <p:nvPr/>
        </p:nvSpPr>
        <p:spPr>
          <a:xfrm>
            <a:off x="8178800" y="3367782"/>
            <a:ext cx="30871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65A"/>
                </a:solidFill>
                <a:latin typeface="IBM Plex Sans Thai" pitchFamily="34" charset="0"/>
                <a:ea typeface="IBM Plex Sans Thai" pitchFamily="34" charset="-122"/>
                <a:cs typeface="IBM Plex Sans Thai" pitchFamily="34" charset="-120"/>
              </a:rPr>
              <a:t>0:45 · UC-10</a:t>
            </a:r>
            <a:endParaRPr lang="en-US" sz="1200" dirty="0"/>
          </a:p>
        </p:txBody>
      </p:sp>
      <p:sp>
        <p:nvSpPr>
          <p:cNvPr id="19" name="Text 17"/>
          <p:cNvSpPr/>
          <p:nvPr/>
        </p:nvSpPr>
        <p:spPr>
          <a:xfrm>
            <a:off x="812800" y="4038302"/>
            <a:ext cx="1088339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3"/>
                </a:solidFill>
                <a:latin typeface="IBM Plex Sans Thai" pitchFamily="34" charset="0"/>
                <a:ea typeface="IBM Plex Sans Thai" pitchFamily="34" charset="-122"/>
                <a:cs typeface="IBM Plex Sans Thai" pitchFamily="34" charset="-120"/>
              </a:rPr>
              <a:t>แท็บที่เปิดไว้: เว็บ (นักศึกษา) · เว็บ (เจ้าหน้าที่ อีกเบราว์เซอร์) · Swagger UI · GitHub · วิดีโอสำรอง</a:t>
            </a:r>
            <a:endParaRPr lang="en-US" sz="13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E9BB5"/>
                </a:solidFill>
                <a:latin typeface="IBM Plex Sans Thai" pitchFamily="34" charset="0"/>
                <a:ea typeface="IBM Plex Sans Thai" pitchFamily="34" charset="-122"/>
                <a:cs typeface="IBM Plex Sans Thai" pitchFamily="34" charset="-120"/>
              </a:rPr>
              <a:t>คุมเครื่อง: ศุภกิตติ์ · พากย์: เจ้าของโมดูล · 7 / 9 · Live Demo</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E14"/>
                </a:solidFill>
                <a:latin typeface="IBM Plex Sans Thai" pitchFamily="34" charset="0"/>
                <a:ea typeface="IBM Plex Sans Thai" pitchFamily="34" charset="-122"/>
                <a:cs typeface="IBM Plex Sans Thai" pitchFamily="34" charset="-120"/>
              </a:rPr>
              <a:t>Lessons Learned</a:t>
            </a:r>
            <a:endParaRPr lang="en-US" sz="1400" dirty="0"/>
          </a:p>
        </p:txBody>
      </p:sp>
      <p:sp>
        <p:nvSpPr>
          <p:cNvPr id="3" name="Text 1"/>
          <p:cNvSpPr>
            <a:spLocks noGrp="1"/>
          </p:cNvSpPr>
          <p:nvPr>
            <p:ph type="title"/>
          </p:nvPr>
        </p:nvSpPr>
        <p:spPr>
          <a:xfrm>
            <a:off x="812800" y="1137841"/>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Kanit" pitchFamily="34" charset="0"/>
                <a:ea typeface="Kanit" pitchFamily="34" charset="-122"/>
                <a:cs typeface="Kanit" pitchFamily="34" charset="-120"/>
              </a:rPr>
              <a:t>ปัญหาที่เจอ และสิ่งที่จะทำต่อ</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46461"/>
          <a:ext cx="10553700" cy="1796355"/>
        </p:xfrm>
        <a:graphic>
          <a:graphicData uri="http://schemas.openxmlformats.org/drawingml/2006/table">
            <a:tbl>
              <a:tblPr/>
              <a:tblGrid>
                <a:gridCol w="3166110">
                  <a:extLst>
                    <a:ext uri="{9D8B030D-6E8A-4147-A177-3AD203B41FA5}">
                      <a16:colId xmlns:a16="http://schemas.microsoft.com/office/drawing/2014/main" val="20000"/>
                    </a:ext>
                  </a:extLst>
                </a:gridCol>
                <a:gridCol w="3588258">
                  <a:extLst>
                    <a:ext uri="{9D8B030D-6E8A-4147-A177-3AD203B41FA5}">
                      <a16:colId xmlns:a16="http://schemas.microsoft.com/office/drawing/2014/main" val="20001"/>
                    </a:ext>
                  </a:extLst>
                </a:gridCol>
                <a:gridCol w="3799332">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F7F5EF"/>
                          </a:solidFill>
                          <a:latin typeface="IBM Plex Sans Thai" pitchFamily="34" charset="0"/>
                          <a:ea typeface="IBM Plex Sans Thai" pitchFamily="34" charset="-122"/>
                          <a:cs typeface="IBM Plex Sans Thai" pitchFamily="34" charset="-120"/>
                        </a:rPr>
                        <a:t>ปัญหา</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7F5EF"/>
                          </a:solidFill>
                          <a:latin typeface="IBM Plex Sans Thai" pitchFamily="34" charset="0"/>
                          <a:ea typeface="IBM Plex Sans Thai" pitchFamily="34" charset="-122"/>
                          <a:cs typeface="IBM Plex Sans Thai" pitchFamily="34" charset="-120"/>
                        </a:rPr>
                        <a:t>แก้อย่างไร</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7F5EF"/>
                          </a:solidFill>
                          <a:latin typeface="IBM Plex Sans Thai" pitchFamily="34" charset="0"/>
                          <a:ea typeface="IBM Plex Sans Thai" pitchFamily="34" charset="-122"/>
                          <a:cs typeface="IBM Plex Sans Thai" pitchFamily="34" charset="-120"/>
                        </a:rPr>
                        <a:t>บทเรียน</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จองพร้อมกัน 5 คำขอ สำเร็จทั้ง 5</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SELECT … FOR UPDATE ได้ 5 → 1</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test ผ่านหมดไม่ได้แปลว่าไม่มีบั๊ก</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แก้ข้อมูลห้องใน V2 แล้วโมดูลอื่นพัง</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solidFill>
                      <a:srgbClr val="EEF1F6"/>
                    </a:solidFill>
                  </a:tcPr>
                </a:tc>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อัปเดตอ้างอิงทุกโมดูล</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BEC0C4"/>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solidFill>
                      <a:srgbClr val="EEF1F6"/>
                    </a:solidFill>
                  </a:tcPr>
                </a:tc>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migration ที่ deploy แล้วห้ามแก้ ให้สร้างเวอร์ชันใหม่</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BEC0C4"/>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solidFill>
                      <a:srgbClr val="EEF1F6"/>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CI ล้มเพราะ Docker Hub จำกัดการดึง</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ใช้ AWS ECR mirror + ลองใหม่</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ลดการพึ่งบริการภายนอกใน pipeline</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รหัสทดสอบเคยอยู่ใน README</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solidFill>
                      <a:srgbClr val="EEF1F6"/>
                    </a:solidFill>
                  </a:tcPr>
                </a:tc>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ลบออก เปลี่ยนรหัส และ JWT secret</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BEC0C4"/>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solidFill>
                      <a:srgbClr val="EEF1F6"/>
                    </a:solidFill>
                  </a:tcPr>
                </a:tc>
                <a:tc>
                  <a:txBody>
                    <a:bodyPr/>
                    <a:lstStyle/>
                    <a:p>
                      <a:pPr marL="0" indent="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ค่าลับต้องอยู่ใน Secrets ตั้งแต่วันแรก</a:t>
                      </a:r>
                      <a:endParaRPr lang="en-US" sz="1300" dirty="0">
                        <a:latin typeface="IBM Plex Sans Thai" charset="0"/>
                        <a:ea typeface="IBM Plex Sans Thai" charset="0"/>
                        <a:cs typeface="IBM Plex Sans Thai" charset="0"/>
                      </a:endParaRPr>
                    </a:p>
                  </a:txBody>
                  <a:tcPr marL="57785" marR="57785" marT="57785" marB="57785">
                    <a:lnL w="12700" cap="flat" cmpd="sng" algn="ctr">
                      <a:solidFill>
                        <a:srgbClr val="BEC0C4"/>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solidFill>
                      <a:srgbClr val="EEF1F6"/>
                    </a:solidFill>
                  </a:tcPr>
                </a:tc>
                <a:extLst>
                  <a:ext uri="{0D108BD9-81ED-4DB2-BD59-A6C34878D82A}">
                    <a16:rowId xmlns:a16="http://schemas.microsoft.com/office/drawing/2014/main" val="10004"/>
                  </a:ext>
                </a:extLst>
              </a:tr>
            </a:tbl>
          </a:graphicData>
        </a:graphic>
      </p:graphicFrame>
      <p:sp>
        <p:nvSpPr>
          <p:cNvPr id="5" name="Text 2"/>
          <p:cNvSpPr/>
          <p:nvPr/>
        </p:nvSpPr>
        <p:spPr>
          <a:xfrm>
            <a:off x="812800" y="3871416"/>
            <a:ext cx="10566400" cy="528241"/>
          </a:xfrm>
          <a:prstGeom prst="roundRect">
            <a:avLst>
              <a:gd name="adj" fmla="val 19234"/>
            </a:avLst>
          </a:prstGeom>
          <a:solidFill>
            <a:srgbClr val="FBE3CF"/>
          </a:solidFill>
          <a:ln/>
        </p:spPr>
        <p:txBody>
          <a:bodyPr wrap="square" lIns="173442" tIns="109942" rIns="0" bIns="84542" rtlCol="0" anchor="t">
            <a:normAutofit/>
          </a:bodyPr>
          <a:lstStyle/>
          <a:p>
            <a:pPr marL="0" indent="0" algn="l">
              <a:lnSpc>
                <a:spcPts val="1960"/>
              </a:lnSpc>
              <a:buNone/>
            </a:pPr>
            <a:r>
              <a:rPr lang="en-US" sz="1400" b="1" dirty="0">
                <a:solidFill>
                  <a:srgbClr val="14213D"/>
                </a:solidFill>
                <a:latin typeface="IBM Plex Sans Thai" pitchFamily="34" charset="0"/>
                <a:ea typeface="IBM Plex Sans Thai" pitchFamily="34" charset="-122"/>
                <a:cs typeface="IBM Plex Sans Thai" pitchFamily="34" charset="-120"/>
              </a:rPr>
              <a:t>ต่อไป:</a:t>
            </a:r>
            <a:r>
              <a:rPr lang="en-US" sz="1400" dirty="0">
                <a:solidFill>
                  <a:srgbClr val="14213D"/>
                </a:solidFill>
                <a:latin typeface="IBM Plex Sans Thai" pitchFamily="34" charset="0"/>
                <a:ea typeface="IBM Plex Sans Thai" pitchFamily="34" charset="-122"/>
                <a:cs typeface="IBM Plex Sans Thai" pitchFamily="34" charset="-120"/>
              </a:rPr>
              <a:t> แจ้งเตือนทางอีเมล / LINE · จองซ้ำรายสัปดาห์ · อัปเดตสถานะแบบ real-time · test ฝั่ง frontend</a:t>
            </a:r>
            <a:endParaRPr lang="en-US" sz="14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ผู้นำเสนอ: พัชรพล · 8 / 9 · Lessons Learned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2014240"/>
            <a:ext cx="10883392" cy="1003300"/>
          </a:xfrm>
          <a:prstGeom prst="rect">
            <a:avLst/>
          </a:prstGeom>
          <a:noFill/>
          <a:ln/>
        </p:spPr>
        <p:txBody>
          <a:bodyPr wrap="square" lIns="0" tIns="0" rIns="0" bIns="0" rtlCol="0" anchor="t">
            <a:normAutofit/>
          </a:bodyPr>
          <a:lstStyle/>
          <a:p>
            <a:pPr marL="0" indent="0" algn="l">
              <a:lnSpc>
                <a:spcPts val="7700"/>
              </a:lnSpc>
              <a:buNone/>
            </a:pPr>
            <a:r>
              <a:rPr lang="en-US" sz="7000" b="1" i="0" dirty="0">
                <a:solidFill>
                  <a:srgbClr val="F7F5EF"/>
                </a:solidFill>
                <a:latin typeface="Kanit" pitchFamily="34" charset="0"/>
                <a:ea typeface="Kanit" pitchFamily="34" charset="-122"/>
                <a:cs typeface="Kanit" pitchFamily="34" charset="-120"/>
              </a:rPr>
              <a:t>ขอบคุณ</a:t>
            </a:r>
            <a:endParaRPr lang="en-US" sz="7000" dirty="0"/>
          </a:p>
        </p:txBody>
      </p:sp>
      <p:sp>
        <p:nvSpPr>
          <p:cNvPr id="3" name="Text 1"/>
          <p:cNvSpPr/>
          <p:nvPr/>
        </p:nvSpPr>
        <p:spPr>
          <a:xfrm>
            <a:off x="812800" y="3246140"/>
            <a:ext cx="10883392" cy="41652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F2A65A"/>
                </a:solidFill>
                <a:latin typeface="IBM Plex Sans Thai" pitchFamily="34" charset="0"/>
                <a:ea typeface="IBM Plex Sans Thai" pitchFamily="34" charset="-122"/>
                <a:cs typeface="IBM Plex Sans Thai" pitchFamily="34" charset="-120"/>
              </a:rPr>
              <a:t>ถาม-ตอบ</a:t>
            </a:r>
            <a:endParaRPr lang="en-US" sz="2200" dirty="0"/>
          </a:p>
        </p:txBody>
      </p:sp>
      <p:sp>
        <p:nvSpPr>
          <p:cNvPr id="4" name="Text 2"/>
          <p:cNvSpPr/>
          <p:nvPr/>
        </p:nvSpPr>
        <p:spPr>
          <a:xfrm>
            <a:off x="812800" y="389126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IBM Plex Sans Thai" pitchFamily="34" charset="0"/>
                <a:ea typeface="IBM Plex Sans Thai" pitchFamily="34" charset="-122"/>
                <a:cs typeface="IBM Plex Sans Thai" pitchFamily="34" charset="-120"/>
              </a:rPr>
              <a:t>เว็บ: sc09-room-booking.vercel.app</a:t>
            </a:r>
            <a:endParaRPr lang="en-US" sz="1500" dirty="0"/>
          </a:p>
        </p:txBody>
      </p:sp>
      <p:sp>
        <p:nvSpPr>
          <p:cNvPr id="5" name="Text 3"/>
          <p:cNvSpPr/>
          <p:nvPr/>
        </p:nvSpPr>
        <p:spPr>
          <a:xfrm>
            <a:off x="812800" y="423416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IBM Plex Sans Thai" pitchFamily="34" charset="0"/>
                <a:ea typeface="IBM Plex Sans Thai" pitchFamily="34" charset="-122"/>
                <a:cs typeface="IBM Plex Sans Thai" pitchFamily="34" charset="-120"/>
              </a:rPr>
              <a:t>API: sc09-room-booking.onrender.com/swagger-ui.html</a:t>
            </a:r>
            <a:endParaRPr lang="en-US" sz="1500" dirty="0"/>
          </a:p>
        </p:txBody>
      </p:sp>
      <p:sp>
        <p:nvSpPr>
          <p:cNvPr id="6" name="Text 4"/>
          <p:cNvSpPr/>
          <p:nvPr/>
        </p:nvSpPr>
        <p:spPr>
          <a:xfrm>
            <a:off x="812800" y="457706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IBM Plex Sans Thai" pitchFamily="34" charset="0"/>
                <a:ea typeface="IBM Plex Sans Thai" pitchFamily="34" charset="-122"/>
                <a:cs typeface="IBM Plex Sans Thai" pitchFamily="34" charset="-120"/>
              </a:rPr>
              <a:t>โค้ดและเอกสาร: GitHub ChillChill007x/sc09-room-booking</a:t>
            </a:r>
            <a:endParaRPr lang="en-US" sz="1500" dirty="0"/>
          </a:p>
        </p:txBody>
      </p:sp>
    </p:spTree>
  </p:cSld>
  <p:clrMapOvr>
    <a:masterClrMapping/>
  </p:clrMapOvr>
</p:sld>
</file>

<file path=ppt/theme/theme1.xml><?xml version="1.0" encoding="utf-8"?>
<a:theme xmlns:a="http://schemas.openxmlformats.org/drawingml/2006/main" name="SC09 Room Booking นำเสนอ">
  <a:themeElements>
    <a:clrScheme name="SC09 Room Booking นำเสนอ">
      <a:dk1>
        <a:srgbClr val="14213D"/>
      </a:dk1>
      <a:lt1>
        <a:srgbClr val="F7F5EF"/>
      </a:lt1>
      <a:dk2>
        <a:srgbClr val="4D566A"/>
      </a:dk2>
      <a:lt2>
        <a:srgbClr val="E0E0DD"/>
      </a:lt2>
      <a:accent1>
        <a:srgbClr val="A84E14"/>
      </a:accent1>
      <a:accent2>
        <a:srgbClr val="F2A65A"/>
      </a:accent2>
      <a:accent3>
        <a:srgbClr val="24345A"/>
      </a:accent3>
      <a:accent4>
        <a:srgbClr val="FBE3CF"/>
      </a:accent4>
      <a:accent5>
        <a:srgbClr val="8E9BB5"/>
      </a:accent5>
      <a:accent6>
        <a:srgbClr val="FFF1C9"/>
      </a:accent6>
      <a:hlink>
        <a:srgbClr val="0563C1"/>
      </a:hlink>
      <a:folHlink>
        <a:srgbClr val="954F72"/>
      </a:folHlink>
    </a:clrScheme>
    <a:fontScheme name="SC09 Room Booking นำเสนอ">
      <a:majorFont>
        <a:latin typeface="Kani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Tha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ธีมของ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1970</Words>
  <Application>Microsoft Office PowerPoint</Application>
  <PresentationFormat>แบบจอกว้าง</PresentationFormat>
  <Paragraphs>143</Paragraphs>
  <Slides>9</Slides>
  <Notes>9</Notes>
  <HiddenSlides>0</HiddenSlides>
  <MMClips>0</MMClips>
  <ScaleCrop>false</ScaleCrop>
  <HeadingPairs>
    <vt:vector size="6" baseType="variant">
      <vt:variant>
        <vt:lpstr>ฟอนต์ที่ถูกใช้</vt:lpstr>
      </vt:variant>
      <vt:variant>
        <vt:i4>3</vt:i4>
      </vt:variant>
      <vt:variant>
        <vt:lpstr>ธีม</vt:lpstr>
      </vt:variant>
      <vt:variant>
        <vt:i4>1</vt:i4>
      </vt:variant>
      <vt:variant>
        <vt:lpstr>ชื่อเรื่องสไลด์</vt:lpstr>
      </vt:variant>
      <vt:variant>
        <vt:i4>9</vt:i4>
      </vt:variant>
    </vt:vector>
  </HeadingPairs>
  <TitlesOfParts>
    <vt:vector size="13" baseType="lpstr">
      <vt:lpstr>Arial</vt:lpstr>
      <vt:lpstr>IBM Plex Sans Thai</vt:lpstr>
      <vt:lpstr>Kanit</vt:lpstr>
      <vt:lpstr>SC09 Room Booking นำเสนอ</vt:lpstr>
      <vt:lpstr>ระบบจองห้องอาคาร SC09</vt:lpstr>
      <vt:lpstr>ไม่รู้ว่าห้องไหนว่าง จองซ้อนกัน ไม่รู้ว่าห้องปิด</vt:lpstr>
      <vt:lpstr>แยก frontend, backend และฐานข้อมูล</vt:lpstr>
      <vt:lpstr>แต่ละ pattern แก้ปัญหาจริงหนึ่งข้อ</vt:lpstr>
      <vt:lpstr>โมดูลการจอง: Controller → Service → Repository</vt:lpstr>
      <vt:lpstr>10 ตาราง จาก Flyway migration V1–V5</vt:lpstr>
      <vt:lpstr>3 use case บนเว็บจริง</vt:lpstr>
      <vt:lpstr>ปัญหาที่เจอ และสิ่งที่จะทำต่อ</vt:lpstr>
      <vt:lpstr>ขอบคุณ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SC09 Room Booking นำเสนอ</dc:title>
  <dc:subject/>
  <dc:creator>PC</dc:creator>
  <cp:lastModifiedBy>Suphakit FunFeal</cp:lastModifiedBy>
  <cp:revision>2</cp:revision>
  <dcterms:created xsi:type="dcterms:W3CDTF">2026-10-10T12:59:06Z</dcterms:created>
  <dcterms:modified xsi:type="dcterms:W3CDTF">2026-10-10T13:01:11Z</dcterms:modified>
</cp:coreProperties>
</file>